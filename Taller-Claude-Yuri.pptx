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jpg" ContentType="image/jpg"/>
  <Override PartName="/ppt/media/image11.jpg" ContentType="image/jpg"/>
  <Override PartName="/ppt/media/image12.jpg" ContentType="image/jpg"/>
  <Override PartName="/ppt/media/image13.jpg" ContentType="image/jpg"/>
  <Override PartName="/ppt/media/image3.jpg" ContentType="image/jpg"/>
  <Override PartName="/ppt/media/image4.jpg" ContentType="image/jpg"/>
  <Override PartName="/ppt/media/image5.jpg" ContentType="image/jpg"/>
  <Override PartName="/ppt/media/image6.jpg" ContentType="image/jpg"/>
  <Override PartName="/ppt/media/image7.jpg" ContentType="image/jpg"/>
  <Override PartName="/ppt/media/image8.jpg" ContentType="image/jpg"/>
  <Override PartName="/ppt/media/image9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4"/>
  </p:notesMasterIdLst>
  <p:sldIdLst>
    <p:sldId id="901" r:id="rId103"/>
    <p:sldId id="902" r:id="rId104"/>
    <p:sldId id="903" r:id="rId105"/>
    <p:sldId id="904" r:id="rId106"/>
    <p:sldId id="905" r:id="rId107"/>
    <p:sldId id="906" r:id="rId108"/>
    <p:sldId id="907" r:id="rId109"/>
    <p:sldId id="908" r:id="rId110"/>
    <p:sldId id="909" r:id="rId111"/>
    <p:sldId id="910" r:id="rId112"/>
    <p:sldId id="911" r:id="rId113"/>
    <p:sldId id="912" r:id="rId114"/>
    <p:sldId id="913" r:id="rId115"/>
    <p:sldId id="914" r:id="rId116"/>
    <p:sldId id="915" r:id="rId117"/>
    <p:sldId id="916" r:id="rId118"/>
    <p:sldId id="917" r:id="rId119"/>
    <p:sldId id="918" r:id="rId120"/>
    <p:sldId id="919" r:id="rId121"/>
    <p:sldId id="920" r:id="rId122"/>
    <p:sldId id="921" r:id="rId123"/>
    <p:sldId id="922" r:id="rId124"/>
    <p:sldId id="923" r:id="rId125"/>
    <p:sldId id="924" r:id="rId126"/>
    <p:sldId id="925" r:id="rId127"/>
    <p:sldId id="926" r:id="rId128"/>
    <p:sldId id="927" r:id="rId129"/>
    <p:sldId id="928" r:id="rId130"/>
    <p:sldId id="929" r:id="rId131"/>
    <p:sldId id="930" r:id="rId132"/>
    <p:sldId id="931" r:id="rId133"/>
    <p:sldId id="932" r:id="rId134"/>
    <p:sldId id="933" r:id="rId135"/>
    <p:sldId id="934" r:id="rId136"/>
    <p:sldId id="935" r:id="rId137"/>
    <p:sldId id="936" r:id="rId138"/>
    <p:sldId id="937" r:id="rId139"/>
    <p:sldId id="256" r:id="rId2"/>
    <p:sldId id="282" r:id="rId25"/>
    <p:sldId id="342" r:id="rId90"/>
    <p:sldId id="343" r:id="rId91"/>
    <p:sldId id="283" r:id="rId26"/>
    <p:sldId id="286" r:id="rId29"/>
    <p:sldId id="354" r:id="rId102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349" r:id="rId97"/>
    <p:sldId id="344" r:id="rId92"/>
    <p:sldId id="345" r:id="rId93"/>
    <p:sldId id="284" r:id="rId27"/>
    <p:sldId id="285" r:id="rId28"/>
    <p:sldId id="346" r:id="rId94"/>
    <p:sldId id="350" r:id="rId98"/>
    <p:sldId id="351" r:id="rId99"/>
    <p:sldId id="352" r:id="rId100"/>
    <p:sldId id="296" r:id="rId39"/>
    <p:sldId id="298" r:id="rId41"/>
    <p:sldId id="299" r:id="rId42"/>
    <p:sldId id="300" r:id="rId43"/>
    <p:sldId id="301" r:id="rId44"/>
    <p:sldId id="302" r:id="rId45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938" r:id="rId140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6370"/>
  </p:normalViewPr>
  <p:slideViewPr>
    <p:cSldViewPr snapToGrid="0" snapToObjects="1">
      <p:cViewPr>
        <p:scale>
          <a:sx n="100" d="100"/>
          <a:sy n="100" d="100"/>
        </p:scale>
        <p:origin x="144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25" Type="http://schemas.openxmlformats.org/officeDocument/2006/relationships/slide" Target="slides/slide2.xml"/><Relationship Id="rId26" Type="http://schemas.openxmlformats.org/officeDocument/2006/relationships/slide" Target="slides/slide5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6.xml"/><Relationship Id="rId30" Type="http://schemas.openxmlformats.org/officeDocument/2006/relationships/slide" Target="slides/slide8.xml"/><Relationship Id="rId31" Type="http://schemas.openxmlformats.org/officeDocument/2006/relationships/slide" Target="slides/slide9.xml"/><Relationship Id="rId32" Type="http://schemas.openxmlformats.org/officeDocument/2006/relationships/slide" Target="slides/slide10.xml"/><Relationship Id="rId33" Type="http://schemas.openxmlformats.org/officeDocument/2006/relationships/slide" Target="slides/slide11.xml"/><Relationship Id="rId34" Type="http://schemas.openxmlformats.org/officeDocument/2006/relationships/slide" Target="slides/slide12.xml"/><Relationship Id="rId35" Type="http://schemas.openxmlformats.org/officeDocument/2006/relationships/slide" Target="slides/slide13.xml"/><Relationship Id="rId36" Type="http://schemas.openxmlformats.org/officeDocument/2006/relationships/slide" Target="slides/slide14.xml"/><Relationship Id="rId39" Type="http://schemas.openxmlformats.org/officeDocument/2006/relationships/slide" Target="slides/slide25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Relationship Id="rId59" Type="http://schemas.openxmlformats.org/officeDocument/2006/relationships/slide" Target="slides/slide45.xml"/><Relationship Id="rId60" Type="http://schemas.openxmlformats.org/officeDocument/2006/relationships/slide" Target="slides/slide46.xml"/><Relationship Id="rId61" Type="http://schemas.openxmlformats.org/officeDocument/2006/relationships/slide" Target="slides/slide47.xml"/><Relationship Id="rId62" Type="http://schemas.openxmlformats.org/officeDocument/2006/relationships/slide" Target="slides/slide48.xml"/><Relationship Id="rId63" Type="http://schemas.openxmlformats.org/officeDocument/2006/relationships/slide" Target="slides/slide49.xml"/><Relationship Id="rId64" Type="http://schemas.openxmlformats.org/officeDocument/2006/relationships/slide" Target="slides/slide50.xml"/><Relationship Id="rId65" Type="http://schemas.openxmlformats.org/officeDocument/2006/relationships/slide" Target="slides/slide51.xml"/><Relationship Id="rId66" Type="http://schemas.openxmlformats.org/officeDocument/2006/relationships/slide" Target="slides/slide52.xml"/><Relationship Id="rId67" Type="http://schemas.openxmlformats.org/officeDocument/2006/relationships/slide" Target="slides/slide53.xml"/><Relationship Id="rId68" Type="http://schemas.openxmlformats.org/officeDocument/2006/relationships/slide" Target="slides/slide54.xml"/><Relationship Id="rId69" Type="http://schemas.openxmlformats.org/officeDocument/2006/relationships/slide" Target="slides/slide55.xml"/><Relationship Id="rId70" Type="http://schemas.openxmlformats.org/officeDocument/2006/relationships/slide" Target="slides/slide56.xml"/><Relationship Id="rId71" Type="http://schemas.openxmlformats.org/officeDocument/2006/relationships/slide" Target="slides/slide57.xml"/><Relationship Id="rId72" Type="http://schemas.openxmlformats.org/officeDocument/2006/relationships/slide" Target="slides/slide58.xml"/><Relationship Id="rId73" Type="http://schemas.openxmlformats.org/officeDocument/2006/relationships/slide" Target="slides/slide59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viewProps" Target="viewProps.xml"/><Relationship Id="rId77" Type="http://schemas.openxmlformats.org/officeDocument/2006/relationships/theme" Target="theme/theme1.xml"/><Relationship Id="rId78" Type="http://schemas.openxmlformats.org/officeDocument/2006/relationships/tableStyles" Target="tableStyles.xml"/><Relationship Id="rId90" Type="http://schemas.openxmlformats.org/officeDocument/2006/relationships/slide" Target="slides/slide3.xml"/><Relationship Id="rId91" Type="http://schemas.openxmlformats.org/officeDocument/2006/relationships/slide" Target="slides/slide4.xml"/><Relationship Id="rId92" Type="http://schemas.openxmlformats.org/officeDocument/2006/relationships/slide" Target="slides/slide16.xml"/><Relationship Id="rId93" Type="http://schemas.openxmlformats.org/officeDocument/2006/relationships/slide" Target="slides/slide17.xml"/><Relationship Id="rId94" Type="http://schemas.openxmlformats.org/officeDocument/2006/relationships/slide" Target="slides/slide20.xml"/><Relationship Id="rId97" Type="http://schemas.openxmlformats.org/officeDocument/2006/relationships/slide" Target="slides/slide15.xml"/><Relationship Id="rId98" Type="http://schemas.openxmlformats.org/officeDocument/2006/relationships/slide" Target="slides/slide21.xml"/><Relationship Id="rId99" Type="http://schemas.openxmlformats.org/officeDocument/2006/relationships/slide" Target="slides/slide22.xml"/><Relationship Id="rId100" Type="http://schemas.openxmlformats.org/officeDocument/2006/relationships/slide" Target="slides/slide23.xml"/><Relationship Id="rId102" Type="http://schemas.openxmlformats.org/officeDocument/2006/relationships/slide" Target="slides/slide7.xml"/><Relationship Id="rId103" Type="http://schemas.openxmlformats.org/officeDocument/2006/relationships/slide" Target="slides/slide60.xml"/><Relationship Id="rId104" Type="http://schemas.openxmlformats.org/officeDocument/2006/relationships/slide" Target="slides/slide61.xml"/><Relationship Id="rId105" Type="http://schemas.openxmlformats.org/officeDocument/2006/relationships/slide" Target="slides/slide62.xml"/><Relationship Id="rId106" Type="http://schemas.openxmlformats.org/officeDocument/2006/relationships/slide" Target="slides/slide63.xml"/><Relationship Id="rId107" Type="http://schemas.openxmlformats.org/officeDocument/2006/relationships/slide" Target="slides/slide64.xml"/><Relationship Id="rId108" Type="http://schemas.openxmlformats.org/officeDocument/2006/relationships/slide" Target="slides/slide65.xml"/><Relationship Id="rId109" Type="http://schemas.openxmlformats.org/officeDocument/2006/relationships/slide" Target="slides/slide66.xml"/><Relationship Id="rId110" Type="http://schemas.openxmlformats.org/officeDocument/2006/relationships/slide" Target="slides/slide67.xml"/><Relationship Id="rId111" Type="http://schemas.openxmlformats.org/officeDocument/2006/relationships/slide" Target="slides/slide68.xml"/><Relationship Id="rId112" Type="http://schemas.openxmlformats.org/officeDocument/2006/relationships/slide" Target="slides/slide69.xml"/><Relationship Id="rId113" Type="http://schemas.openxmlformats.org/officeDocument/2006/relationships/slide" Target="slides/slide70.xml"/><Relationship Id="rId114" Type="http://schemas.openxmlformats.org/officeDocument/2006/relationships/slide" Target="slides/slide71.xml"/><Relationship Id="rId115" Type="http://schemas.openxmlformats.org/officeDocument/2006/relationships/slide" Target="slides/slide72.xml"/><Relationship Id="rId116" Type="http://schemas.openxmlformats.org/officeDocument/2006/relationships/slide" Target="slides/slide73.xml"/><Relationship Id="rId117" Type="http://schemas.openxmlformats.org/officeDocument/2006/relationships/slide" Target="slides/slide74.xml"/><Relationship Id="rId118" Type="http://schemas.openxmlformats.org/officeDocument/2006/relationships/slide" Target="slides/slide75.xml"/><Relationship Id="rId119" Type="http://schemas.openxmlformats.org/officeDocument/2006/relationships/slide" Target="slides/slide76.xml"/><Relationship Id="rId120" Type="http://schemas.openxmlformats.org/officeDocument/2006/relationships/slide" Target="slides/slide77.xml"/><Relationship Id="rId121" Type="http://schemas.openxmlformats.org/officeDocument/2006/relationships/slide" Target="slides/slide78.xml"/><Relationship Id="rId122" Type="http://schemas.openxmlformats.org/officeDocument/2006/relationships/slide" Target="slides/slide79.xml"/><Relationship Id="rId123" Type="http://schemas.openxmlformats.org/officeDocument/2006/relationships/slide" Target="slides/slide80.xml"/><Relationship Id="rId124" Type="http://schemas.openxmlformats.org/officeDocument/2006/relationships/slide" Target="slides/slide81.xml"/><Relationship Id="rId125" Type="http://schemas.openxmlformats.org/officeDocument/2006/relationships/slide" Target="slides/slide82.xml"/><Relationship Id="rId126" Type="http://schemas.openxmlformats.org/officeDocument/2006/relationships/slide" Target="slides/slide83.xml"/><Relationship Id="rId127" Type="http://schemas.openxmlformats.org/officeDocument/2006/relationships/slide" Target="slides/slide84.xml"/><Relationship Id="rId128" Type="http://schemas.openxmlformats.org/officeDocument/2006/relationships/slide" Target="slides/slide85.xml"/><Relationship Id="rId129" Type="http://schemas.openxmlformats.org/officeDocument/2006/relationships/slide" Target="slides/slide86.xml"/><Relationship Id="rId130" Type="http://schemas.openxmlformats.org/officeDocument/2006/relationships/slide" Target="slides/slide87.xml"/><Relationship Id="rId131" Type="http://schemas.openxmlformats.org/officeDocument/2006/relationships/slide" Target="slides/slide88.xml"/><Relationship Id="rId132" Type="http://schemas.openxmlformats.org/officeDocument/2006/relationships/slide" Target="slides/slide89.xml"/><Relationship Id="rId133" Type="http://schemas.openxmlformats.org/officeDocument/2006/relationships/slide" Target="slides/slide90.xml"/><Relationship Id="rId134" Type="http://schemas.openxmlformats.org/officeDocument/2006/relationships/slide" Target="slides/slide91.xml"/><Relationship Id="rId135" Type="http://schemas.openxmlformats.org/officeDocument/2006/relationships/slide" Target="slides/slide92.xml"/><Relationship Id="rId136" Type="http://schemas.openxmlformats.org/officeDocument/2006/relationships/slide" Target="slides/slide93.xml"/><Relationship Id="rId137" Type="http://schemas.openxmlformats.org/officeDocument/2006/relationships/slide" Target="slides/slide94.xml"/><Relationship Id="rId138" Type="http://schemas.openxmlformats.org/officeDocument/2006/relationships/slide" Target="slides/slide95.xml"/><Relationship Id="rId139" Type="http://schemas.openxmlformats.org/officeDocument/2006/relationships/slide" Target="slides/slide96.xml"/><Relationship Id="rId140" Type="http://schemas.openxmlformats.org/officeDocument/2006/relationships/slide" Target="slides/slide9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6862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[ENSEÑAR] 3 min. Portada. Enuncia la promesa del alumno: al terminar sabe tomar un requerimiento, especificarlo verificable, diseñar UI con criterio, construir una v1 con Claude, probarla, revisar seguridad y dejar un proceso reutilizable. Publico: 3 devs que ya programan. Tono tecnico, sin grandilocuencia.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[ENSEÑAR] 1 min. Divisoria. Sección robusta: es donde "criterio &gt; herramienta" se vuelve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[ENSEÑAR] 6 min. Lámina nueva y el corazón de la sección. El punto: no cambió la herramienta ni el modelo ni el requerimiento — cambió el criterio con que se dirige. El LAB 3 hace exactamente estas dos iteraciones para que lo VEAN, no lo crean.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[ENSEÑAR] 4 min. Enséñales a "ver" el slop. Pide que critiquen la iteración 1 del lab con estas 4 señales. Es criterio entrenable en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[REFERENCIA] 2 min. Tabla de arreglos. Autoestudio; se aplica en el lab. No hace falta dictarla.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[ENSEÑAR] 4 min. La distinción visual vs funcional es la técnica central. Para el lab de cotizaciones: visual = Pipedrive; funcional = Carbon/Attio (list-report + object-page). Las láminas de capturas que siguen son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[MOSTRAR] 2 min. Muestra la captura como referencia VISUAL (color/tono). Deja claro que no copiamos su estructura, solo su lenguaje visual.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[MOSTRAR] 2 min. Referencia FUNCIONAL para la lista de cotizaciones: densidad, orden, acciones por fila. El "cómo se comporta".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[MOSTRAR] 2 min. Este es el patrón de la pantalla del lab (cp-03): lista + detalle. Attio/Twenty son la referencia funcional directa.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[ENSEÑAR] 5 min. El pipeline es lo que el participante repite en el lab. En cp-03 el resultado son tokens.css + styles.css con estado por color+texto. Recalca el paso 4: AA se mide, no se opina.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[REFERENCIA] 2 min. Fundamento citable del anti-slop. Autoestudio para quien quiera el porqué detrás de cada regla.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[ENSEÑAR] 3 min. La accesibilidad es el criterio no negociable del lab de UI: el resultado esperado incluye REPORTAR el ratio AA con número. "Se ve bien" no basta.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[REFERENCIA] 2 min. Grid de sistemas de diseño para autoestudio: de dónde robar patrones ya resueltos y accesibles. No lo dictes; que sepan que existe.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[ENSEÑAR/PRÁCTICA] 30 min. El lab estrella de la mañana. Insiste en HACER las dos iteraciones: sin la iteración 1 genérica no hay contraste que enseñe. Lo NO negociable: que reporten el número de contraste AA. Recuperación: git checkout cp-03 (tokens.css + styles.css de referencia). Cierre: pon las dos iteraciones lado a lado y pregunta qué cambió (respuesta: solo el criterio).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[ENSEÑAR] 1 min. Divisoria. Objetivo de la mañana: rebanada vertical (cp-04), verde con evidencia (cp-05), IDOR corregido (cp-06) y consolidación (cp-07).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[ENSEÑAR] 4 min. Recap de la sesión 1 y encuadre de la 2. Asegúrate de que todos estén al menos en cp-03 antes de construir (usa git checkout para nivelar).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[ENSEÑAR] 7 min. Lámina nueva y estructurante: reordena las 5 piezas como una escalera de autonomía. El principio (arriba): a más autonomía, más necesidad de control. Cada nivel mapea a algo que ya vieron (memoria, skills, revisor, hook, MCP). Enlaza directo con la lámina siguiente: qué NO delegar.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[ENSEÑAR] 5 min. Lámina nueva. La regla: autonomía ∝ reversibilidad/riesgo. Está en el CLAUDE.md del kit ("Qué NO delegar sin aprobación humana"). Conecta con el contrato humano↔Claude del día 1: lo irreversible o caro lo aprueba el humano.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[ENSEÑAR] 1 min. Divisoria. Construir dirigido: plan antes de codear, tú apruebas.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[ENSEÑAR] 4 min. Para la rebanada vertical usamos experto dirigido: cambio grande, plan aprobado, diff revisado. El copiloto queda para los ajustes.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[ENSEÑAR] 4 min. Plan mode es nativo (no es una pieza del kit). Muéstralo en vivo: Shift+Tab, pide un plan, señala que no editó. Detalle en CLAUDE-TECH-ACCURACY §9.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[REFERENCIA] 3 min (demo opcional). El MCP se enseña como referencia, no como pieza obligatoria. Si hay tiempo y ganas, muestra una ingesta por endpoint mock; si no, basta el seed. No lo conviertas en el centro de la etapa.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[ENSEÑAR/PRÁCTICA] 35 min. El lab más largo. Que planeen antes de codear (plan mode) — si alguien saltó al código, pídele volver al plan. NO señales el IDOR todavía: es la trampa pedagógica (FUNCIONA≠ES SEGURO), se descubre en Verificar/Asegurar. Recuperación: git checkout cp-04. Cierre: que muestren el flujo completo en :5173 y el cierre en CRM.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[ENSEÑAR] 1 min. Divisoria. El verde funcional no prueba que el producto esté bien. Aquí se ve el falso verde.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[ENSEÑAR] 5 min. Lámina nueva y clave. Este es el "aha": el mismo código que pasa todos los tests tiene un IDOR. Los tests de flujo pasan porque nadie escribió el de acceso. Conecta: NO HAY VERDE SIN EVIDENCIA, y la evidencia correcta incluye lo que los tests de flujo no miran.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[ENSEÑAR] 4 min. El principio 2 de 5. El hook Stop es el mecanismo que lo hace cumplir solo (nivel 5 de autonomía). En el lab lo van a ver bloquear un cierre.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[ENSEÑAR] 5 min. Muestra el command y el hook del kit (.claude/commands/verificar.md y .claude/hooks/no-cerrar-sin-pruebas.sh). En el lab equivale a npm run verify. Recalca que el hook lo ejecuta el harness: no se puede "olvidar". El formato de hooks puede variar entre versiones: ver CLAUDE-TECH-ACCURACY §4.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[REFERENCIA] 2 min. Principios de prueba para autoestudio. En el lab los tests usan Vitest con app.inject (sin red) y base en memoria. No hace falta dictarla.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[ENSEÑAR/PRÁCTICA] 28 min. Haz que TODOS vean el hook bloquear (rompe un assert). El momento clave: aunque los 10 tests pasan, el producto no es seguro — puente directo a Builder≠Auditor y Asegurar. Recuperación: git checkout cp-05. Cierre: ¿un suite verde es una auditoría de seguridad? (no).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[ENSEÑAR] 4 min. El principio 3 de 5. El revisor está en el kit (.claude/agents/revisor.md). Su valor: contexto fresco parte de la spec, no del razonamiento del constructor. Es el que caza lo que el verde de cp-05 esconde.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[ENSEÑAR/PRÁCTICA] 20 min. Alternativa sin subagente: revisión cruzada entre participantes (el repo de otro). Lo importante es la POSTURA: partir de la spec y del código real, no de "confío en lo que construí". El revisor debe llegar al IDOR por método, no porque tú lo dijiste. Cierre: junta los hallazgos; todos apuntan al PATCH sin ownership.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[ENSEÑAR] 1 min. Divisoria. La seguridad entra por un problema concreto (el IDOR), no como catálogo.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[ENSEÑAR] 4 min. Los 3 grandes en simple. El del lab es el primero (control de acceso). Los otros dos son REF en la lámina siguiente.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[MOSTRAR/ENSEÑAR] 6 min. El corazón de la etapa. Reproduce el ataque en vivo (curl cross-tenant → 200 en cp-05). Recuerda que el criterio de ownership se escribió en el LAB 1: el agujero es la violación de ese criterio. El fix vive en un solo punto porque la máquina de estados está en un endpoint.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[REFERENCIA] 2 min. Los otros riesgos, para autoestudio. El lab se centra en el control de acceso; estos quedan como referencia secundaria (un input sin validar / un secreto en código).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[ENSEÑAR] 4 min. La skill del kit (.claude/skills/security-baseline). Es "seguro por defecto": se auto-invoca al tocar lo sensible. Diagnóstico primero, fix después. FUNCIONA≠ES SEGURO.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[ENSEÑAR] 2 min. Principio 4 de 5 (con BUILDER≠AUDITOR). Cierra la idea: el verde de cp-05 y el agujero convivían. Da paso al lab del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[ENSEÑAR/PRÁCTICA] 28 min. Que reproduzcan el 200 ANTES de arreglar: el ataque tiene que ser tangible. El fix es una sola comprobación de ownership; lo esencial es acompañarlo de un test de regresión que exija 403. Recuperación: git checkout cp-06. Solución de referencia completa: cp-07. Cierre: cross-tenant → 403; verify 12 en verde.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[ENSEÑAR] 1 min. Divisoria. Última etapa: que puedan retomar en otra sesión/modelo sin reconstruir.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[ENSEÑAR] 4 min. Consolidar = dejar el proceso reutilizable. Muestra ESTADO.md y memory/MEMORY.md del lab (cp-07). Conecta con la cuota: un buen handoff evita re-gastar tokens reconstruyendo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[ENSEÑAR] 4 min. El kit es un starter, no un dogma. Que salgan con algo propio funcionando. Recalca la descripción de la skill: es lo que decide la auto-invocación.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[REFERENCIA] 3 min. Lámina nueva (reemplaza el "v1/v2/v3" cronológico). Cada pieza del kit responde a un problema→mecanismo→riesgo resuelto. Útil para que entiendan POR QUÉ existe cada pieza, no solo qué es. Autoestudio.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[ENSEÑAR/PRÁCTICA] 22 min. Último lab: que se lleven algo PROPIO. /optimizar-memoria no borra sin OK — respétalo. Solución de referencia consolidada: cp-07. Cierre del taller: cada uno enseña su pieza propia y su ESTADO.md. Recuérdales que cp-07 es el destino: si terminaron, están ahí.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[ENSEÑAR] 3 min. PARA FIJAR del taller. Recap de los 5 principios demostrados (no proclamados). Conecta cada idea con el checkpoint donde se vivió.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[ENSEÑAR] 3 min. La hoja de criterio: el entregable mental del taller. Diles que la peguen en su repo real. Es el método en una página.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[ENSEÑAR] 2 min. Qué se llevan concreto: el kit (v2/kit) y el lab (v2/lab-cotizaciones con sus 8 checkpoints). El valor no son las diapositivas: es el proceso.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[REFERENCIA] 1 min. Recursos para seguir. Apunta primero a v2/CLAUDE-TECH-ACCURACY.md para lo técnico de Claude, que distingue principio estable de implementación actual (esta última puede cambiar).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[REFERENCIA] 1 min. Glosario para el material. Autoestudio.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[ENSEÑAR] 2 min. Cierre. Repite la promesa cumplida y los 5 principios. Invítalos a llevar el kit a un proyecto real esta semana, mientras está fresco.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jp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.jp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image" Target="../media/image13.jpg"/><Relationship Id="rId7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9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2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65960"/>
            <a:ext cx="82296" cy="2468880"/>
          </a:xfrm>
          <a:prstGeom prst="rect">
            <a:avLst/>
          </a:prstGeom>
          <a:solidFill>
            <a:srgbClr val="E0814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1051560" y="2395728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 con criterio + Claude</a:t>
            </a:r>
            <a:endParaRPr lang="en-US" sz="4600" dirty="0"/>
          </a:p>
        </p:txBody>
      </p:sp>
      <p:pic>
        <p:nvPicPr>
          <p:cNvPr id="7" name="Image 0" descr="/Users/majucito/Documents/AEOS/operations/agents/mentor/formacion/taller-agentic-yuri/assets/alira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9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9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10" name="TextBox 9"/>
          <p:cNvSpPr txBox="1"/>
          <p:nvPr/>
        </p:nvSpPr>
        <p:spPr>
          <a:xfrm>
            <a:off x="1097280" y="1965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08144"/>
                </a:solidFill>
                <a:latin typeface="Calibri"/>
              </a:rPr>
              <a:t>SESIÓN 2 DE 2 · MAÑANA 2 (4 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D8CCC2"/>
                </a:solidFill>
                <a:latin typeface="Calibri"/>
              </a:rPr>
              <a:t>Empezamos con los talleres de diseño (quedaron pendientes de la Sesión 1); luego construir, probar, asegurar y hacerlo tuyo.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A2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4A3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E3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868680" y="2880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08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· DISEÑAR (UI/UX)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Diseñar la interfaz con criterio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4279392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C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que vimos sobre un ejemplo grande hoy lo aplicamos de punta a punta sobre algo pequeño que sí terminamos: tu landing. Por tiempo, los 5 ejercicios de diseño se hacen ahora — no te perdiste nada de la Sesión 1.</a:t>
            </a:r>
            <a:endParaRPr lang="en-US" sz="1800" dirty="0"/>
          </a:p>
        </p:txBody>
      </p:sp>
      <p:pic>
        <p:nvPicPr>
          <p:cNvPr id="6" name="Image 0" descr="/Users/majucito/Documents/AEOS/operations/agents/mentor/formacion/taller-agentic-yuri/assets/alira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9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9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es un sistema de diseño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con piezas reutilizables, no "a ojo" cada vez.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diseño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conjunto de decisiones visuales reutilizables —colores, tipografía, espaciados, componentes— para que todo se vea consistente sin re-decidir cada pantalla.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trabaja un diseñador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 esas piezas y las combina con criterio. Tú harás lo mismo, pero dirigiendo a Claude.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Design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Design es una herramienta visual aparte (en la web); hoy NO la usamos — todo es en la terminal.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taller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usaremos Claude Design: trabajamos en Claude Code, dirigiendo el diseño con criterio y referencias reales.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términos que vas a oír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jerga: qué significan aquí.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decisiones visuales como variables con nombre (color-primario, texto-grande, espacio-2). Cambias el token y cambia todo lo que lo usa. Aquí "tokens" = las piezas base de tu diseño, no tokens de IA.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Anti-slop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el "look genérico de IA": pantallas recargadas, burbujas dentro de burbujas, mil tamaños de letra. Diseñar con intención, no el default.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AA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medida de accesibilidad (WCAG): que el texto se lea bien sobre su fondo. Se mide con un número (4.5:1 en texto normal), no a ojo.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qué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estos tres controlas la calidad visual: piezas consistentes (tokens), sin slop y legibles (AA).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antes / después: el criterio cambia el resultado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herramienta, mismo modelo, mismo requerimiento — dos iteraciones.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5029200" cy="0"/>
          </a:xfrm>
          <a:prstGeom prst="line">
            <a:avLst/>
          </a:prstGeom>
          <a:noFill/>
          <a:ln w="31750">
            <a:solidFill>
              <a:srgbClr val="B453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Iteración 1</a:t>
            </a:r>
            <a:r>
              <a:rPr lang="en-US" sz="1900" i="1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(abierta, sin criterio)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pides "hazme una pantalla" a secas. Salida genérica: burbujas anidadas, sin jerarquía, contraste a ojo.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4297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1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"Hazme la lista 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21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cotizaciones."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2240280"/>
            <a:ext cx="5029200" cy="0"/>
          </a:xfrm>
          <a:prstGeom prst="line">
            <a:avLst/>
          </a:prstGeom>
          <a:noFill/>
          <a:ln w="31750">
            <a:solidFill>
              <a:srgbClr val="B453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6309360" y="2377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Iteración 2</a:t>
            </a:r>
            <a:r>
              <a:rPr lang="en-US" sz="1900" i="1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(con criterio)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309360" y="288036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modelo, pero con referencias (visual+funcional), tokens, anti-slop y contraste AA verificado. Otra cosa.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309360" y="4297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45720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1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"…toma color 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21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Pipedrive, densidad 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21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Carbon, tokens y AA."</a:t>
            </a:r>
            <a:endParaRPr lang="en-US" sz="1300" dirty="0"/>
          </a:p>
        </p:txBody>
      </p:sp>
      <p:pic>
        <p:nvPicPr>
          <p:cNvPr id="15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método: dos referencias distintas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la referencia visual de la funcional. No busques una que haga todo.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visual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y tipografía de un producto que te gusta. Cómo se ve.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funcional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que resuelve tu caso: lista + detalle —los design systems lo llaman "list-report" (lista) + "object-page" (detalle)—. Cómo se comporta.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copies concept-art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de productos reales en producción, no de dribbble bonito e inusable.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criterio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referencia aporta; la paleta y las decisiones son tuyas.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de diseño: qué tipos hay y cuándo usar cada uno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tipos. En las próximas láminas verás un ejemplo de cada uno.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visual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"cómo se ve": color, tipografía, tono (ej. Pipedrive, Mobbin). Úsala al elegir la paleta y el estilo.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funcional / patrones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"cómo se comporta": listas, tablas, detalle (ej. Carbon, Ant, Attio, Twenty). Úsala al definir la estructura de una pantalla.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diseño (de empresas)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y reglas ya resueltos y accesibles (ej. Fluent, Lightning, Polaris, Material). Para robar patrones probados.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y accesibilidad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porqué (Refactoring UI) y la medida del contraste (WebAIM/AA). Para justificar decisiones y verificar.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Pipedrive: color y tipografía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VISUAL: tomas el "cómo se ve" (color, tipografía), no la funcionalidad. Úsala al elegir la paleta.</a:t>
            </a:r>
            <a:endParaRPr lang="en-US" sz="1550" dirty="0"/>
          </a:p>
        </p:txBody>
      </p:sp>
      <p:pic>
        <p:nvPicPr>
          <p:cNvPr id="5" name="Image 0" descr="/Users/majucito/Documents/AEOS/operations/agents/mentor/formacion/taller-agentic-yuri/assets/capturas/sm/01-pipedriv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55080" y="2148840"/>
            <a:ext cx="5166360" cy="32278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55080" y="2148840"/>
            <a:ext cx="5166360" cy="3227832"/>
          </a:xfrm>
          <a:prstGeom prst="rect">
            <a:avLst/>
          </a:prstGeom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4"/>
          <p:cNvSpPr/>
          <p:nvPr/>
        </p:nvSpPr>
        <p:spPr>
          <a:xfrm>
            <a:off x="822960" y="2194560"/>
            <a:ext cx="52120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acotada, tipografía clara, mucho aire.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 y estados consistentes.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como referencia de color/tono, no de estructura.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355080" y="544068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pipedrive.com</a:t>
            </a:r>
            <a:endParaRPr lang="en-US" sz="1100" dirty="0"/>
          </a:p>
        </p:txBody>
      </p:sp>
      <p:pic>
        <p:nvPicPr>
          <p:cNvPr id="9" name="Image 1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Tablas densas: el patrón "list report"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FUNCIONAL: cómo se comporta una lista seria (densa, ordenable, accionable). Úsala al diseñar tablas y listados.</a:t>
            </a:r>
            <a:endParaRPr lang="en-US" sz="1550" dirty="0"/>
          </a:p>
        </p:txBody>
      </p:sp>
      <p:pic>
        <p:nvPicPr>
          <p:cNvPr id="5" name="Image 0" descr="/Users/majucito/Documents/AEOS/operations/agents/mentor/formacion/taller-agentic-yuri/assets/capturas/sm/03-carbon-datatabl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2286000"/>
            <a:ext cx="5074920" cy="31729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2286000"/>
            <a:ext cx="5074920" cy="3172968"/>
          </a:xfrm>
          <a:prstGeom prst="rect">
            <a:avLst/>
          </a:prstGeom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4"/>
          <p:cNvSpPr/>
          <p:nvPr/>
        </p:nvSpPr>
        <p:spPr>
          <a:xfrm>
            <a:off x="822960" y="553212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(IBM) — tabla densa, jerarquía clara. · carbondesignsystem.com</a:t>
            </a:r>
            <a:endParaRPr lang="en-US" sz="1300" dirty="0"/>
          </a:p>
        </p:txBody>
      </p:sp>
      <p:pic>
        <p:nvPicPr>
          <p:cNvPr id="8" name="Image 1" descr="/Users/majucito/Documents/AEOS/operations/agents/mentor/formacion/taller-agentic-yuri/assets/capturas/sm/04-ant-table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0" y="2286000"/>
            <a:ext cx="5074920" cy="317296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309360" y="2286000"/>
            <a:ext cx="5074920" cy="3172968"/>
          </a:xfrm>
          <a:prstGeom prst="rect">
            <a:avLst/>
          </a:prstGeom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6"/>
          <p:cNvSpPr/>
          <p:nvPr/>
        </p:nvSpPr>
        <p:spPr>
          <a:xfrm>
            <a:off x="6309360" y="553212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 Design — filtros, orden, acciones por fila. · ant.design</a:t>
            </a:r>
            <a:endParaRPr lang="en-US" sz="1300" dirty="0"/>
          </a:p>
        </p:txBody>
      </p:sp>
      <p:pic>
        <p:nvPicPr>
          <p:cNvPr id="11" name="Image 2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 moderno: lista + detalle (object page)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FUNCIONAL: el patrón lista + detalle (el del proyecto). Úsalo al diseñar una pantalla maestro-detalle.</a:t>
            </a:r>
            <a:endParaRPr lang="en-US" sz="1550" dirty="0"/>
          </a:p>
        </p:txBody>
      </p:sp>
      <p:pic>
        <p:nvPicPr>
          <p:cNvPr id="5" name="Image 0" descr="/Users/majucito/Documents/AEOS/operations/agents/mentor/formacion/taller-agentic-yuri/assets/capturas/sm/11-atti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2286000"/>
            <a:ext cx="5074920" cy="31729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2286000"/>
            <a:ext cx="5074920" cy="3172968"/>
          </a:xfrm>
          <a:prstGeom prst="rect">
            <a:avLst/>
          </a:prstGeom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4"/>
          <p:cNvSpPr/>
          <p:nvPr/>
        </p:nvSpPr>
        <p:spPr>
          <a:xfrm>
            <a:off x="822960" y="553212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Attio — densidad y detalle sin ruido. · attio.com</a:t>
            </a:r>
            <a:endParaRPr lang="en-US" sz="1300" dirty="0"/>
          </a:p>
        </p:txBody>
      </p:sp>
      <p:pic>
        <p:nvPicPr>
          <p:cNvPr id="8" name="Image 1" descr="/Users/majucito/Documents/AEOS/operations/agents/mentor/formacion/taller-agentic-yuri/assets/capturas/sm/12-twenty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0" y="2286000"/>
            <a:ext cx="5074920" cy="317296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309360" y="2286000"/>
            <a:ext cx="5074920" cy="3172968"/>
          </a:xfrm>
          <a:prstGeom prst="rect">
            <a:avLst/>
          </a:prstGeom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6"/>
          <p:cNvSpPr/>
          <p:nvPr/>
        </p:nvSpPr>
        <p:spPr>
          <a:xfrm>
            <a:off x="6309360" y="553212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(open source) — list report + object page. · twenty.com</a:t>
            </a:r>
            <a:endParaRPr lang="en-US" sz="1300" dirty="0"/>
          </a:p>
        </p:txBody>
      </p:sp>
      <p:pic>
        <p:nvPicPr>
          <p:cNvPr id="11" name="Image 2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método de diseño, en 4 pasos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 pasos que aplicarás en el ejercicio de la landing. Tú diriges cada uno — no es solo "pídele a la skill".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Capturar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la referencia real (captura del producto que resuelve tu caso).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Extraer tokens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Saca colores, tipografía y espaciados a variables reutilizables (CSS variables → tokens.css).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Anti-slop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Aplícalos evitando las 4 señales: aplana, 2–3 tamaños, un acento.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Accesibilidad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contraste AA por código antes de dar por bueno.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Refactoring UI: el porqué, con fuente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diseño: el PORQUÉ de cada regla, con fuente. Úsalo para justificar y afinar decisiones.</a:t>
            </a:r>
            <a:endParaRPr lang="en-US" sz="1550" dirty="0"/>
          </a:p>
        </p:txBody>
      </p:sp>
      <p:pic>
        <p:nvPicPr>
          <p:cNvPr id="5" name="Image 0" descr="/Users/majucito/Documents/AEOS/operations/agents/mentor/formacion/taller-agentic-yuri/assets/capturas/sm/02-refactoring-ui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55080" y="2148840"/>
            <a:ext cx="5166360" cy="32278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55080" y="2148840"/>
            <a:ext cx="5166360" cy="3227832"/>
          </a:xfrm>
          <a:prstGeom prst="rect">
            <a:avLst/>
          </a:prstGeom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4"/>
          <p:cNvSpPr/>
          <p:nvPr/>
        </p:nvSpPr>
        <p:spPr>
          <a:xfrm>
            <a:off x="822960" y="2194560"/>
            <a:ext cx="52120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tipográfica definida (no tamaños al azar).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"Empieza en gris": diseña en grises y añade color al final.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 por espaciado, no por líneas y marcos.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355080" y="544068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refactoringui.com</a:t>
            </a:r>
            <a:endParaRPr lang="en-US" sz="1100" dirty="0"/>
          </a:p>
        </p:txBody>
      </p:sp>
      <p:pic>
        <p:nvPicPr>
          <p:cNvPr id="9" name="Image 1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Accesibilidad medible: WebAIM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accesibilidad: mide el contraste (AA). Úsala para verificar que el texto se lee bien.</a:t>
            </a:r>
            <a:endParaRPr lang="en-US" sz="1550" dirty="0"/>
          </a:p>
        </p:txBody>
      </p:sp>
      <p:pic>
        <p:nvPicPr>
          <p:cNvPr id="5" name="Image 0" descr="/Users/majucito/Documents/AEOS/operations/agents/mentor/formacion/taller-agentic-yuri/assets/capturas/sm/13-webaim-contrast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55080" y="2148840"/>
            <a:ext cx="5166360" cy="32278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55080" y="2148840"/>
            <a:ext cx="5166360" cy="3227832"/>
          </a:xfrm>
          <a:prstGeom prst="rect">
            <a:avLst/>
          </a:prstGeom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4"/>
          <p:cNvSpPr/>
          <p:nvPr/>
        </p:nvSpPr>
        <p:spPr>
          <a:xfrm>
            <a:off x="822960" y="2194560"/>
            <a:ext cx="52120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AA: 4.5:1 texto normal, 3:1 texto grande (18px+).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 los dos colores y te da el ratio y si pasa.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Verifícalo por código, no a ojo.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355080" y="544068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webaim.org/resources/contrastchecker</a:t>
            </a:r>
            <a:endParaRPr lang="en-US" sz="1100" dirty="0"/>
          </a:p>
        </p:txBody>
      </p:sp>
      <p:pic>
        <p:nvPicPr>
          <p:cNvPr id="9" name="Image 1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de diseño empresariales (para robar patrones)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diseño de grandes empresas: componentes y patrones ya resueltos. Para robar patrones probados (detalle en la siguiente lámina).</a:t>
            </a:r>
            <a:endParaRPr lang="en-US" sz="1550" dirty="0"/>
          </a:p>
        </p:txBody>
      </p:sp>
      <p:pic>
        <p:nvPicPr>
          <p:cNvPr id="5" name="Image 0" descr="/Users/majucito/Documents/AEOS/operations/agents/mentor/formacion/taller-agentic-yuri/assets/capturas/sm/07-fluent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2194560"/>
            <a:ext cx="2926080" cy="1828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2194560"/>
            <a:ext cx="2926080" cy="1828800"/>
          </a:xfrm>
          <a:prstGeom prst="rect">
            <a:avLst/>
          </a:prstGeom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4"/>
          <p:cNvSpPr/>
          <p:nvPr/>
        </p:nvSpPr>
        <p:spPr>
          <a:xfrm>
            <a:off x="3886200" y="2743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2 (Microsoft)</a:t>
            </a:r>
            <a:endParaRPr lang="en-US" sz="1400" dirty="0"/>
          </a:p>
        </p:txBody>
      </p:sp>
      <p:pic>
        <p:nvPicPr>
          <p:cNvPr id="8" name="Image 1" descr="/Users/majucito/Documents/AEOS/operations/agents/mentor/formacion/taller-agentic-yuri/assets/capturas/sm/06-lightning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0" y="2194560"/>
            <a:ext cx="2926080" cy="18288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309360" y="2194560"/>
            <a:ext cx="2926080" cy="1828800"/>
          </a:xfrm>
          <a:prstGeom prst="rect">
            <a:avLst/>
          </a:prstGeom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6"/>
          <p:cNvSpPr/>
          <p:nvPr/>
        </p:nvSpPr>
        <p:spPr>
          <a:xfrm>
            <a:off x="9372600" y="2743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(Salesforce)</a:t>
            </a:r>
            <a:endParaRPr lang="en-US" sz="1400" dirty="0"/>
          </a:p>
        </p:txBody>
      </p:sp>
      <p:pic>
        <p:nvPicPr>
          <p:cNvPr id="11" name="Image 2" descr="/Users/majucito/Documents/AEOS/operations/agents/mentor/formacion/taller-agentic-yuri/assets/capturas/sm/09-polaris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2960" y="4114800"/>
            <a:ext cx="2926080" cy="18288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22960" y="4114800"/>
            <a:ext cx="2926080" cy="1828800"/>
          </a:xfrm>
          <a:prstGeom prst="rect">
            <a:avLst/>
          </a:prstGeom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8"/>
          <p:cNvSpPr/>
          <p:nvPr/>
        </p:nvSpPr>
        <p:spPr>
          <a:xfrm>
            <a:off x="3886200" y="4663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Polaris (Shopify)</a:t>
            </a:r>
            <a:endParaRPr lang="en-US" sz="1400" dirty="0"/>
          </a:p>
        </p:txBody>
      </p:sp>
      <p:pic>
        <p:nvPicPr>
          <p:cNvPr id="14" name="Image 3" descr="/Users/majucito/Documents/AEOS/operations/agents/mentor/formacion/taller-agentic-yuri/assets/capturas/sm/10-material3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09360" y="4114800"/>
            <a:ext cx="2926080" cy="182880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309360" y="4114800"/>
            <a:ext cx="2926080" cy="1828800"/>
          </a:xfrm>
          <a:prstGeom prst="rect">
            <a:avLst/>
          </a:prstGeom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0"/>
          <p:cNvSpPr/>
          <p:nvPr/>
        </p:nvSpPr>
        <p:spPr>
          <a:xfrm>
            <a:off x="9372600" y="4663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3 (Google)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fluent2.microsoft.design · lightningdesignsystem.com · polaris.shopify.com · m3.material.io</a:t>
            </a:r>
            <a:endParaRPr lang="en-US" sz="1100" dirty="0"/>
          </a:p>
        </p:txBody>
      </p:sp>
      <p:pic>
        <p:nvPicPr>
          <p:cNvPr id="18" name="Image 4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buscar en cada sistema de diseño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copies el estilo: copia el PATRÓN (cómo resuelven una lista, un formulario) y adáptalo con tu paleta.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2 — Microsoft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fluent2.microsoft.design — componentes y patrones de apps empresariales (tablas, formularios, navegación) + tokens y guías de uso.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— Salesforce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lightningdesignsystem.com — patrones para apps con mucho dato/CRM: tablas densas, page layouts, componentes accesibles.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Polaris — Shopify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polaris.shopify.com — patrones de panel/admin: cards, listas, formularios, con guías de contenido y accesibilidad.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3 — Google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m3.material.io — sistema completo: componentes, theming/tokens, guías de color y tipografía.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EA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 1 · Genera el sistema de diseño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comando del kit /sistema-diseno, a partir de una URL real. Requiere Node (compruébalo con node --version). ~15 min.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Producir un sistema de diseño (tokens + brandbook) desde un sitio de ejemplo; lo usarás en el Ejercicio 5.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proyecto corre:  /sistema-diseno https://pipedrive.com (usa esta o el sitio de cualquier producto que te guste)  — genera design/tokens.css y design/brandbook.html.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debe salir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tokens.css (los colores, la tipografía y los radios del sitio) y brandbook.html (una página que muestra tu paleta, tipografía y componentes) abrible en el navegador.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brandbook + los tokens. Es lo que le pasarás a Claude en el Ejercicio 5.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 diseño que vale la pena probar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dan a Claude vocabulario de diseño para no producir "slop". Requisito: Node (trae npx); si npx no responde, instala Node y reinicia la terminal.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anti-slop (base neutra + un acento, contraste AA). npx skills add Leonxlnx/taste-skill · tasteskill.dev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Impeccable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 de diseño compartido (Paul Bakaus), 20+ comandos. /plugin marketplace add pbakaus/impeccable → /impeccable init · impeccable.style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Emil Kowalski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Pulido de UI y animación con criterio (emil-design-eng, review-animations). npx -y skills add emilkowalski/skills --agent claude-code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usan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Claude Code, dentro del proyecto. Son skills públicas (open source); se instalan solo en tu proyecto. Tú diriges la paleta y las decisiones.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hay que evitar: el "slop" de IA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el "slop" visual de un vistazo.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Burbujas anidadas: tarjetas dentro de tarjetas dentro de tarjetas.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Eyebrows por todos lados: mini-títulos en mayúsculas sobre CADA sección.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Circo tipográfico: cinco tamaños y pesos peleando en la misma pantalla.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Exceso de color y marcos: todo enmarcado, nada respira.</a:t>
            </a:r>
            <a:endParaRPr lang="en-US" sz="1700" dirty="0"/>
          </a:p>
        </p:txBody>
      </p:sp>
      <p:pic>
        <p:nvPicPr>
          <p:cNvPr id="6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señal y su arreglo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Autoestudio: el anti-slop, señal por señal.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Burbujas anidadas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Aplana: una capa de contenedores; separa con espacio, no con marcos.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Eyebrows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uno donde de verdad aporte; no sobre cada sección.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Circo tipográfico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tamaños. Jerarquía con peso y color, no con tamaños nuevos.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Exceso de color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base neutra + UN acento. El color informa, no decora.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EA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77724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 2 · La landing "por default"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ver el "default de IA" — cómo diseña Claude sin ninguna guía. Es la base a superar.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Requisitos: </a:t>
            </a:r>
            <a:r>
              <a:rPr lang="en-US" sz="12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sesión NUEVA de Claude Code, fuera del proyecto (para que no use ninguna referencia).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otra terminal, ve a una carpeta vacía (cd %USERPROFILE%\Desktop) y corre claude ahí (así no usa ninguna referencia del proyecto).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 el prompt de la caja tal cual, sin darle dirección de diseño.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la landing que genere (el archivo HTML) para comparar después.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794760"/>
            <a:ext cx="5029200" cy="2240280"/>
          </a:xfrm>
          <a:prstGeom prst="roundRect">
            <a:avLst>
              <a:gd name="adj" fmla="val 2041"/>
            </a:avLst>
          </a:prstGeom>
          <a:solidFill>
            <a:srgbClr val="22140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1005840" y="3877056"/>
            <a:ext cx="4709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2C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 en UN archivo HTML autocontenido una landing para 'Cotiza', app donde equipos de ventas crean, envían y siguen cotizaciones. Incluye hero (titular, subtítulo, botón), 3 beneficios, 'cómo funciona' en 3 pasos y un CTA final. No preguntes; asume lo razonable.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72200" y="2148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72200" y="242316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Suele salir genérica: burbujas, gradientes, poca jerarquía.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"default de IA": el punto de partida que vas a superar en el Ej.4 y el Ej.5.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5138928"/>
            <a:ext cx="5212080" cy="502920"/>
          </a:xfrm>
          <a:prstGeom prst="roundRect">
            <a:avLst>
              <a:gd name="adj" fmla="val 7273"/>
            </a:avLst>
          </a:prstGeom>
          <a:solidFill>
            <a:srgbClr val="F4D9C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6309360" y="513892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Comprueba: </a:t>
            </a:r>
            <a:r>
              <a:rPr lang="en-US" sz="11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tienes la landing guardada para compararla con la del Ej.4 y la del Ej.5.</a:t>
            </a:r>
            <a:endParaRPr lang="en-US" sz="1150" dirty="0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EA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77724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 3 · Instala las skills de diseño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darle a Claude vocabulario de diseño instalando skills que mejoran cómo diseña.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Requisitos: </a:t>
            </a:r>
            <a:r>
              <a:rPr lang="en-US" sz="12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abierto dentro del proyecto.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Taste (obligatoria) con el comando de la caja.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Impeccable y Emil son opcionales; instala las que quieras.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/skills confirma que aparecen (/skills es un command: lo disparas tú con /). Reinicia Claude Code si hace falta.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794760"/>
            <a:ext cx="5029200" cy="2240280"/>
          </a:xfrm>
          <a:prstGeom prst="roundRect">
            <a:avLst>
              <a:gd name="adj" fmla="val 2041"/>
            </a:avLst>
          </a:prstGeom>
          <a:solidFill>
            <a:srgbClr val="22140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1005840" y="3877056"/>
            <a:ext cx="4709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2C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Taste (obligatoria):   npx skills add Leonxlnx/taste-skill
Impeccable (opcional):   /plugin marketplace add pbakaus/impeccable   -&gt;   /impeccable init
Emil (opcional):   npx -y skills add emilkowalski/skills --agent claude-code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72200" y="2148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72200" y="242316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skills quedan instaladas y disponibles en el proyecto.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/skills aparecen en la lista (una skill se activa sola por su descripción; /skills solo la muestra).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5138928"/>
            <a:ext cx="5212080" cy="502920"/>
          </a:xfrm>
          <a:prstGeom prst="roundRect">
            <a:avLst>
              <a:gd name="adj" fmla="val 7273"/>
            </a:avLst>
          </a:prstGeom>
          <a:solidFill>
            <a:srgbClr val="F4D9C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6309360" y="513892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Comprueba: </a:t>
            </a:r>
            <a:r>
              <a:rPr lang="en-US" sz="11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escribes /skills y ves Taste (y las opcionales) en la lista.</a:t>
            </a:r>
            <a:endParaRPr lang="en-US" sz="1150" dirty="0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EA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77724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 4 · La landing con una skill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ver el salto que da una skill de diseño frente al default del Ejercicio 2.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Requisitos: </a:t>
            </a:r>
            <a:r>
              <a:rPr lang="en-US" sz="12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skill de diseño instalada en el Ej.3 (Taste o Impeccable).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proyecto, pega el prompt de la caja.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skill se activa sola por su descripción (no la llamas con /).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 la landing al lado de la del Ej.2 y compara.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794760"/>
            <a:ext cx="5029200" cy="2240280"/>
          </a:xfrm>
          <a:prstGeom prst="roundRect">
            <a:avLst>
              <a:gd name="adj" fmla="val 2041"/>
            </a:avLst>
          </a:prstGeom>
          <a:solidFill>
            <a:srgbClr val="22140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1005840" y="3877056"/>
            <a:ext cx="4709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2C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 la MISMA landing de 'Cotiza' (hero, 3 beneficios, 'cómo funciona' en 3 pasos y CTA final) en UN archivo HTML autocontenido, aplicando la skill Taste (o Impeccable). No preguntes; asume lo razonable.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72200" y="2148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72200" y="242316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jerarquía, espaciado y paleta que el default del Ej.2.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Aún es un estilo genérico de skill: tu marca llega en el Ej.5.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5138928"/>
            <a:ext cx="5212080" cy="502920"/>
          </a:xfrm>
          <a:prstGeom prst="roundRect">
            <a:avLst>
              <a:gd name="adj" fmla="val 7273"/>
            </a:avLst>
          </a:prstGeom>
          <a:solidFill>
            <a:srgbClr val="F4D9C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6309360" y="513892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Comprueba: </a:t>
            </a:r>
            <a:r>
              <a:rPr lang="en-US" sz="11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 claramente mejor que la del Ej.2 (misma herramienta y modelo; cambió el criterio).</a:t>
            </a:r>
            <a:endParaRPr lang="en-US" sz="1150" dirty="0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EA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77724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 5 · La landing con TU sistema de diseño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aplicar TU marca (tus tokens) y ver la diferencia frente a una skill genérica.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Requisitos: </a:t>
            </a:r>
            <a:r>
              <a:rPr lang="en-US" sz="12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design/tokens.css que generaste en el Ejercicio 1.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tu proyecto, menciona tu archivo en el prompt con @design/tokens.css (en la terminal no hay botón de adjuntar) y pega el prompt de la caja.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las tres: default (Ej.2) vs skill (Ej.4) vs tu sistema (Ej.5).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landing del Ej.5 es la que entra al proyecto y se vuelve funcional en "Construir".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794760"/>
            <a:ext cx="5029200" cy="2240280"/>
          </a:xfrm>
          <a:prstGeom prst="roundRect">
            <a:avLst>
              <a:gd name="adj" fmla="val 2041"/>
            </a:avLst>
          </a:prstGeom>
          <a:solidFill>
            <a:srgbClr val="22140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1005840" y="3877056"/>
            <a:ext cx="4709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2C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 la MISMA landing de 'Cotiza' (hero, 3 beneficios, 'cómo funciona' en 3 pasos y CTA final) en UN archivo HTML autocontenido, usando SOLO mi sistema de diseño (tokens.css: colores, tipografía, radios). No preguntes; asume lo razonable.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72200" y="2148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72200" y="242316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Respeta tus tokens: colores, tipografía y radios propios.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distingue de la del Ej.4: identidad consistente, no solo "menos slop".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landing que entra al proyecto en la sección Construir.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5138928"/>
            <a:ext cx="5212080" cy="502920"/>
          </a:xfrm>
          <a:prstGeom prst="roundRect">
            <a:avLst>
              <a:gd name="adj" fmla="val 7273"/>
            </a:avLst>
          </a:prstGeom>
          <a:solidFill>
            <a:srgbClr val="F4D9C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6309360" y="513892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Comprueba: </a:t>
            </a:r>
            <a:r>
              <a:rPr lang="en-US" sz="11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landing usa tu paleta y tipografía, y se ve distinta de la del Ej.4.</a:t>
            </a:r>
            <a:endParaRPr lang="en-US" sz="1150" dirty="0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BEA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77724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antes / después: lista + detalle de cotizaciones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ver que el criterio cambia el resultado: dos iteraciones sobre la misma pantalla.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Requisitos: </a:t>
            </a:r>
            <a:r>
              <a:rPr lang="en-US" sz="12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(usabilidad/accesibilidad) + referencia visual (Pipedrive) + funcional (Carbon/Attio) + skill `diseno-ui`.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Iteración 1: pide la pantalla "a secas" y critícala con las 4 señales.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Iteración 2: repite con referencias + tokens + anti-slop + AA.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ambas y verifica contraste AA por código.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794760"/>
            <a:ext cx="5029200" cy="2240280"/>
          </a:xfrm>
          <a:prstGeom prst="roundRect">
            <a:avLst>
              <a:gd name="adj" fmla="val 2041"/>
            </a:avLst>
          </a:prstGeom>
          <a:solidFill>
            <a:srgbClr val="22140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1005840" y="3877056"/>
            <a:ext cx="4709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2C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Diseña la pantalla lista de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2C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cotizaciones + detalle (patrón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2C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list-report + object-page). Toma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2C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 de Pipedrive y densidad de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2C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Carbon/Attio. Aplica las 4 señales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2C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anti-slop, deja tokens en CSS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2C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 (tokens.css) y verifica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2C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contraste AA. Estado por color +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2C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texto. Selector de equipo arriba.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72200" y="2148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72200" y="242316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Iteración 1 genérica vs iteración 2 con criterio: diferencia VISIBLE.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+ detalle sin burbujas ni eyebrows; 2–3 tamaños; jerarquía por espacio.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 tokens.css reutilizables; estado comunicado con texto + color.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 el contraste AA con número y corrige lo que falle.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5138928"/>
            <a:ext cx="5212080" cy="502920"/>
          </a:xfrm>
          <a:prstGeom prst="roundRect">
            <a:avLst>
              <a:gd name="adj" fmla="val 7273"/>
            </a:avLst>
          </a:prstGeom>
          <a:solidFill>
            <a:srgbClr val="F4D9C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6309360" y="513892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Comprueba: </a:t>
            </a:r>
            <a:r>
              <a:rPr lang="en-US" sz="11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herramienta + modelo + requerimiento, distinto criterio → distinto resultado.</a:t>
            </a:r>
            <a:endParaRPr lang="en-US" sz="1150" dirty="0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A2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4A3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868680" y="2880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08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DISEÑO AL CÓDIGO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 · Verificar · Asegurar · Consolidar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4279392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C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diseño al código: construir dirigido, aprobado con evidencia, seguro por defecto y proceso reutilizable.</a:t>
            </a:r>
            <a:endParaRPr lang="en-US" sz="1800" dirty="0"/>
          </a:p>
        </p:txBody>
      </p:sp>
      <p:pic>
        <p:nvPicPr>
          <p:cNvPr id="6" name="Image 0" descr="/Users/majucito/Documents/AEOS/operations/agents/mentor/formacion/taller-agentic-yuri/assets/alira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9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9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Retomamos: de lo diseñado a lo construido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breve y puente a la construcción.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Ayer: contrato con Claude, spec verificable, arquitectura por capas, UI con criterio.
Hoy: construir la rebanada vertical, probarla con evidencia, auditarla y asegurarla.
Regla que vuelve: mayor velocidad de construcción → mayor necesidad de control.
Si te quedaste atrás: git checkout cp-03 (cp-NN = un tag de git con el estado esperado al cierre de cada etapa) y arrancamos todos desde el mismo punto.</a:t>
            </a:r>
            <a:endParaRPr lang="en-US" sz="1700" dirty="0"/>
          </a:p>
        </p:txBody>
      </p:sp>
      <p:pic>
        <p:nvPicPr>
          <p:cNvPr id="6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Progresión de autonomía: 6 niveles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pieza sube un escalón de autonomía. Mayor autonomía → mayor necesidad de control.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Responde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chat contesta una pregunta puntual. Sin persistencia.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724912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926080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Contexto persistente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2834640"/>
            <a:ext cx="7498080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+ memory/: recuerda reglas y estado entre sesiones.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364992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2926080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Ejecuta procesos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474720"/>
            <a:ext cx="7498080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+ commands: aplica criterio/flujo. Las skills se auto-invocan (sin /, p.ej. especificar); los commands los disparas tú (con /, p.ej. /verificar).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005072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114800"/>
            <a:ext cx="2926080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Delega / especializa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114800"/>
            <a:ext cx="7498080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subagentes: otro Claude en contexto aislado (`revisor`).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4645152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822960" y="4754880"/>
            <a:ext cx="2926080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Se controla su ejecución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886200" y="4754880"/>
            <a:ext cx="7498080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+ tests: reglas que se cumplen solas (no cerrar sin pruebas).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2960" y="5285232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822960" y="5394960"/>
            <a:ext cx="2926080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Herramientas externas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3886200" y="5394960"/>
            <a:ext cx="7498080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MCP: llega a datos/servicios fuera del repo.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22960" y="5925312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23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NO delegar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Autonomía proporcional a reversibilidad y riesgo: a más daño posible / menos reversible, más control humano.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destructivas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Borrar datos, sobrescribir, operaciones irreversibles.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y secretos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Deploy, credenciales/permisos, tocar sistemas vivos.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fondo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sensible, aceptación funcional (¿cumple la intención?).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relevantes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de tokens/infra que no controlas. Requiere tu decisión.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2A2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4A3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E4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868680" y="2880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08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· CONSTRUIR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 un flujo completo de punta a punta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4279392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C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flujo completo de punta a punta = una funcionalidad COMPLETA que atraviesa todas las capas (UI → API → datos), no una capa entera. La construimos planeando antes de teclear.</a:t>
            </a:r>
            <a:endParaRPr lang="en-US" sz="1800" dirty="0"/>
          </a:p>
        </p:txBody>
      </p:sp>
      <p:pic>
        <p:nvPicPr>
          <p:cNvPr id="6" name="Image 0" descr="/Users/majucito/Documents/AEOS/operations/agents/mentor/formacion/taller-agentic-yuri/assets/alira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9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9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Copiloto vs. experto dirigido (aplicado)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este cambio, ¿quién teclea?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5029200" cy="0"/>
          </a:xfrm>
          <a:prstGeom prst="line">
            <a:avLst/>
          </a:prstGeom>
          <a:noFill/>
          <a:ln w="31750">
            <a:solidFill>
              <a:srgbClr val="B453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Copiloto</a:t>
            </a:r>
            <a:r>
              <a:rPr lang="en-US" sz="1900" i="1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(cambios chicos)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tecleas y Claude sugiere: ajustes puntuales, dudas rápidas.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4297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1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Cambiar el texto de un botón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21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 un color de la landing.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2240280"/>
            <a:ext cx="5029200" cy="0"/>
          </a:xfrm>
          <a:prstGeom prst="line">
            <a:avLst/>
          </a:prstGeom>
          <a:noFill/>
          <a:ln w="31750">
            <a:solidFill>
              <a:srgbClr val="B453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6309360" y="2377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Experto dirigido</a:t>
            </a:r>
            <a:r>
              <a:rPr lang="en-US" sz="1900" i="1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(cambios grandes)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309360" y="288036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implementa; tú apruebas el plan y revisas lo que cambió.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309360" y="4297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45720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1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"Haz que el formulario guarde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21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 contactos y agrega el panel".</a:t>
            </a:r>
            <a:endParaRPr lang="en-US" sz="1300" dirty="0"/>
          </a:p>
        </p:txBody>
      </p:sp>
      <p:pic>
        <p:nvPicPr>
          <p:cNvPr id="15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plan mode nativo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codear algo no trivial, plan mode.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activas con Shift+Tab, dentro de la ventana de Claude Code (igual en Windows) — o arrancando Claude Code directamente en modo plan.
Claude investiga y propone un plan; NO edita hasta que apruebas.
No hace falta un command propio: el nativo ya hace investiga → plan → aprobación.
Tú lees el plan, corriges el rumbo, y recién ahí se construye.</a:t>
            </a:r>
            <a:endParaRPr lang="en-US" sz="1700" dirty="0"/>
          </a:p>
        </p:txBody>
      </p:sp>
      <p:pic>
        <p:nvPicPr>
          <p:cNvPr id="6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MCP: referencia + demo opcional (no es del kit)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canales del lab se simulan con seed/JSON; el MCP solo si aporta.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enchufe para conectar Claude a datos/servicios externos. NO es una pieza del mini-kit.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lab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canales de entrada se simulan con "seed" (sembrar datos de ejemplo en la base) en JSON/CSV. Sin WhatsApp/email reales.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opcional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de un canal por un endpoint mock, solo para ilustrar qué haría un MCP.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Conéctalo solo mientras aporte: cuesta contexto. Si un seed basta, no uses MCP.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BEA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77724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mode sobre el flujo real (leer antes de tocar)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ver plan mode en acción — que Claude investigue y proponga el plan del flujo (formulario → guardado → panel) SIN editar, y deje la app corriendo.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Requisitos: </a:t>
            </a:r>
            <a:r>
              <a:rPr lang="en-US" sz="12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lab clonado + Node instalado. El lab ya trae el flujo construido; aquí lo entendemos con plan mode.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el proyecto del lab en Claude Code (ya clonado).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 plan mode (Shift+Tab) y pega el prompt de la caja.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verifica Node, te muestra el plan (sin editar) y levanta el servidor en http://localhost:9777.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794760"/>
            <a:ext cx="5029200" cy="2240280"/>
          </a:xfrm>
          <a:prstGeom prst="roundRect">
            <a:avLst>
              <a:gd name="adj" fmla="val 2041"/>
            </a:avLst>
          </a:prstGeom>
          <a:solidFill>
            <a:srgbClr val="22140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1005840" y="3877056"/>
            <a:ext cx="4709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2C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plan mode (Shift+Tab): no reescribas lo que ya existe. Lee server.js, public/index.html y lib/, y muéstrame el plan de cómo está construido HOY el flujo: formulario → guardado en data/contactos.json → "gracias" → panel por usuario (selector Ana/Beto) → marcar "contactado". No edites nada. Antes, verifica Node con node --version; comprueba si http://localhost:9777 ya está levantado y, si no, levántalo con node server.js (puerto 9777, Windows); confirma que responde. Dime qué archivo hace cada parte (archivo y línea).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72200" y="2148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72200" y="242316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NO edita: primero investiga y muestra el plan.
Te dice qué archivo hace cada parte del flujo (UI → API → datos), con archivo y línea.
Deja el servidor corriendo en http://localhost:9777.
(El panel deja ver contactos de otro cambiando el número — el hueco que cazaremos en Asegurar.)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5138928"/>
            <a:ext cx="5212080" cy="502920"/>
          </a:xfrm>
          <a:prstGeom prst="roundRect">
            <a:avLst>
              <a:gd name="adj" fmla="val 7273"/>
            </a:avLst>
          </a:prstGeom>
          <a:solidFill>
            <a:srgbClr val="F4D9C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6309360" y="513892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Comprueba: </a:t>
            </a:r>
            <a:r>
              <a:rPr lang="en-US" sz="11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abres http://localhost:9777, el flujo funciona y tienes claro qué archivo hace qué.</a:t>
            </a:r>
            <a:endParaRPr lang="en-US" sz="1150" dirty="0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A2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4A3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E5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868680" y="2880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08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· VERIFICAR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ciclo de pruebas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4279392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C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aprobado sin evidencia. SPEC✓/CÓDIGO✓/TESTS✓ todavía puede ser PRODUCTO✗.</a:t>
            </a:r>
            <a:endParaRPr lang="en-US" sz="1800" dirty="0"/>
          </a:p>
        </p:txBody>
      </p:sp>
      <p:pic>
        <p:nvPicPr>
          <p:cNvPr id="6" name="Image 0" descr="/Users/majucito/Documents/AEOS/operations/agents/mentor/formacion/taller-agentic-yuri/assets/alira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9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9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SPEC✓ / CÓDIGO✓ / TESTS✓ … pero PRODUCTO✗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pedagógico exacto de esta etapa.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formulario valida sus campos y las pruebas pasan.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al usarlo, el contacto no llega al panel o no sale el "gracias": el producto está roto.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las pruebas pasen ≠ producto correcto. Pasar no prueba lo que nadie probó.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eso, antes de cerrar, faltan dos cosas: una auditoría independiente (revisor) y la revisión de seguridad (security-baseline).</a:t>
            </a:r>
            <a:endParaRPr lang="en-US" sz="1700" dirty="0"/>
          </a:p>
        </p:txBody>
      </p:sp>
      <p:pic>
        <p:nvPicPr>
          <p:cNvPr id="6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hay aprobado sin evidencia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principio, en concreto.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"Parece hecho" ≠ "está hecho": nada se declara aprobado sin una señal verificable.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evidencia es un test que pasa, un build que compila, una captura — no una afirmación.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test que falla es el sistema funcionando: te avisó a tiempo. Prohibido cambiar asserts para que pasen.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candado del falso positivo es el hook `no-cerrar-sin-pruebas`: el harness lo ejecuta, no depende del modelo.</a:t>
            </a:r>
            <a:endParaRPr lang="en-US" sz="1700" dirty="0"/>
          </a:p>
        </p:txBody>
      </p:sp>
      <p:pic>
        <p:nvPicPr>
          <p:cNvPr id="6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/verificar y el hook: qué corren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Cableados al stack real del lab (npm run verify).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/verificar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que corre las pruebas y reporta evidencia real: "N pasan, M fallan", no "se ve bien". Lo disparas tú con /.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lab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verify revisa los tipos (chequeo de TypeScript del lab; en tu stack será tu propio comando de pruebas) y corre las pruebas del formulario (que valide los campos y el correo).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hook (Stop)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`no-cerrar-sin-pruebas`: al intentar cerrar, el motor de Claude Code (no el modelo) corre las pruebas; si algo falla, BLOQUEA. Se dispara solo.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Cablear a tu stack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el comando por el de tu proyecto (tus propias pruebas) en el command y en el hook.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prueba bien: los principios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Autoestudio: buenas prácticas de prueba.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caso independiente; no depende del orden ni del estado que dejó otro (parte de datos de ejemplo limpios).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 del spec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casos salen de los criterios de aceptación (etapa Especificar).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Precondiciones (datos de ejemplo)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 datos de ejemplo antes de correr; el caso parte de ese estado conocido.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un fallo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Aísla y registra (esperado vs observado); no detienes toda la corrida ni tragas el error.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BEA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77724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Verificar con evidencia + ver el hook bloquear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correr las pruebas del formulario, ver el hook frenar un falso positivo y confirmar que aprobado ≠ hecho.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Requisitos: </a:t>
            </a:r>
            <a:r>
              <a:rPr lang="en-US" sz="12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formulario y el panel del ejercicio de Construir + npm run verify y el hook `no-cerrar-sin-pruebas` activos.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npm run verify y lee la evidencia (qué pasa y qué falla).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Rompe a propósito la validación del correo e intenta cerrar: el hook no te deja.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Arregla la validación y vuelve a correr npm run verify hasta que quede aprobado.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794760"/>
            <a:ext cx="5029200" cy="2240280"/>
          </a:xfrm>
          <a:prstGeom prst="roundRect">
            <a:avLst>
              <a:gd name="adj" fmla="val 2041"/>
            </a:avLst>
          </a:prstGeom>
          <a:solidFill>
            <a:srgbClr val="22140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1005840" y="3877056"/>
            <a:ext cx="4709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2C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Windows, en la carpeta del lab (Claude Code abierto aquí). 1) Corre npm run verify y pégame la salida (cuántas pasan). 2) Rompe la validación del correo en lib/validacion.js: cambia RE_CORREO para que acepte cualquier texto. 3) Corre npm run verify: ahora fallan pruebas del correo. 4) Intenta cerrar: el hook no-cerrar-sin-pruebas debe bloquearte con "decision: block"; pégame ese mensaje. 5) Revierte y corre npm run verify hasta que vuelvan a pasar; recién ahí cierra. No toques ningún test para que pase.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72200" y="2148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72200" y="242316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verify reporta con detalle (qué pruebas pasan), no "se ve bien".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correo roto, el hook `no-cerrar-sin-pruebas` BLOQUEA el cierre.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arreglar la validación, las pruebas vuelven a pasar y ya puedes cerrar.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5138928"/>
            <a:ext cx="5212080" cy="502920"/>
          </a:xfrm>
          <a:prstGeom prst="roundRect">
            <a:avLst>
              <a:gd name="adj" fmla="val 7273"/>
            </a:avLst>
          </a:prstGeom>
          <a:solidFill>
            <a:srgbClr val="F4D9C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6309360" y="513892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Comprueba: </a:t>
            </a:r>
            <a:r>
              <a:rPr lang="en-US" sz="11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verify → aprobado; una prueba que falla es información a tiempo, no un fracaso.</a:t>
            </a:r>
            <a:endParaRPr lang="en-US" sz="1150" dirty="0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revisor: Builder ≠ Auditor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construye no certifica.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subagente (`revisor`) con contexto fresco audita el diff en su propio espacio.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arrastra el sesgo de quien lo escribió (aunque sea una IA); ve lo que tú ya no ves.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entrega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informe de hallazgos con evidencia (archivo:línea) y un veredicto: listo / no listo.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revisor audita el formulario y el panel, y levanta la sospecha de que se pueden ver los contactos de otro usuario — algo que las pruebas no miran.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BEA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77724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Auditar con el subagente `revisor`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que un auditor en contexto fresco encuentre el hueco que las pruebas del formulario no miran.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Requisitos: </a:t>
            </a:r>
            <a:r>
              <a:rPr lang="en-US" sz="12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subagente `revisor` + el formulario y el panel recién construidos (con el hueco de acceso presente).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Pídele a Claude que use el subagente `revisor` en contexto fresco sobre el formulario y el panel.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Léelo enfocado en el panel: ¿un usuario puede ver los contactos de otro?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el hallazgo; no lo arregles aún (el arreglo es la sección Asegurar).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794760"/>
            <a:ext cx="5029200" cy="2240280"/>
          </a:xfrm>
          <a:prstGeom prst="roundRect">
            <a:avLst>
              <a:gd name="adj" fmla="val 2041"/>
            </a:avLst>
          </a:prstGeom>
          <a:solidFill>
            <a:srgbClr val="22140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1005840" y="3877056"/>
            <a:ext cx="4709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2C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 el subagente revisor en contexto fresco para auditar SOLO el control de acceso del panel y el detalle. En server.js, revisa GET /contacto/:id y POST /contacto/:id/contactado. Pregunta: estando como Ana, ¿puedo ver o marcar "contactado" un contacto de Beto cambiando el número en la dirección (por ej. /contacto/7)? Básate en la lógica real del código. Entrega: (1) el hallazgo con archivo y línea de AMBAS rutas, (2) por qué npm run verify no lo detecta, (3) veredicto en una palabra: no listo. No arregles nada; solo audita.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72200" y="2148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72200" y="242316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revisor mira con ojos frescos: no arrastra el sesgo de quien construyó.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que el panel deja ver los contactos de otro usuario cambiando el número en la dirección.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 el hueco con archivo y línea y da veredicto "no listo"; no arregla nada, solo audita.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5138928"/>
            <a:ext cx="5212080" cy="502920"/>
          </a:xfrm>
          <a:prstGeom prst="roundRect">
            <a:avLst>
              <a:gd name="adj" fmla="val 7273"/>
            </a:avLst>
          </a:prstGeom>
          <a:solidFill>
            <a:srgbClr val="F4D9C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6309360" y="513892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Comprueba: </a:t>
            </a:r>
            <a:r>
              <a:rPr lang="en-US" sz="11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pruebas aprobadas no son una auditoría; el revisor (Builder≠Auditor) cazó lo que el formulario no miraba.</a:t>
            </a:r>
            <a:endParaRPr lang="en-US" sz="1150" dirty="0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2A2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4A3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E6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868680" y="2880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08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· ASEGURAR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desde un problema concreto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4279392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C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(la lista de los riesgos de seguridad más comunes) en cristiano: el IDOR real del lab. FUNCIONA ≠ ES SEGURO.</a:t>
            </a:r>
            <a:endParaRPr lang="en-US" sz="1800" dirty="0"/>
          </a:p>
        </p:txBody>
      </p:sp>
      <p:pic>
        <p:nvPicPr>
          <p:cNvPr id="6" name="Image 0" descr="/Users/majucito/Documents/AEOS/operations/agents/mentor/formacion/taller-agentic-yuri/assets/alira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9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9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riesgos más comunes, en simple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Reconocerlos sin ser especialista.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 / IDOR: ver o cambiar lo que es de OTRO por su número, sin verificar que sea tuyo.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Inyección: datos que terminan ejecutándose como código o como instrucciones.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Secretos: claves o contraseñas metidas en el código o en el repo.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externo = lo que escribe el visitante en el formulario: es dato, no confiable; valídalo siempre.</a:t>
            </a:r>
            <a:endParaRPr lang="en-US" sz="1700" dirty="0"/>
          </a:p>
        </p:txBody>
      </p:sp>
      <p:pic>
        <p:nvPicPr>
          <p:cNvPr id="6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IDOR / BOLA con el caso del lab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o cambiar lo que no es tuyo — el hueco que dejamos a propósito en el panel.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fallo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panel abre cada contacto por un número en la dirección (por ej. /contacto/7) y el sistema no revisa que el 7 sea tuyo.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consecuencia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cambia el número de la dirección y entra al contacto de Beto: ve (y hasta edita) contactos que no son suyos.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nombre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 seguridad lo llaman IDOR / BOLA — control de acceso roto (OWASP A01). No necesitas el término; sí la costumbre de verificar "esto es de quien lo pide".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fix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mostrar o cambiar un contacto, verificar que sea del usuario elegido; si no, no dejarlo.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Inyección, secretos e input externo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Autoestudio: los otros riesgos base.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Inyección SQL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concatenar input en la consulta; usar consultas parametrizadas.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Inyección de comandos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pasar input a la shell; validar y usar APIs seguras.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Inyección de instrucciones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llega de fuera (lo que escribe el visitante en el formulario, una página, un email) es dato, no órdenes.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del código: variables de entorno; nunca en logs ni en el repo.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skill `security-baseline`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criterio OWASP, aplicado solo cuando toca.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activa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sola, por su descripción, cuando tocas control de acceso, direcciones con un número de recurso, o input externo (lo que escribe el visitante).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revisa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acceso/IDOR, inyección, secretos, manejo de input externo.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entrega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con evidencia (archivo:línea) y el fix propuesto — antes de tocar código.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Crece hacia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ASVS (Application Security Verification Standard: requisitos de seguridad verificables por nivel, más exigente que el Top 10) cuando quieras subir el rigor.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1097280"/>
            <a:ext cx="9509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 ≠ es seguro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formulario y panel que pasaban todas las pruebas dejaban ver los contactos de otros usuarios con solo cambiar el número en la dirección.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37490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i="1" dirty="0">
                <a:solidFill>
                  <a:srgbClr val="B45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Funcionar no es ser seguro: la seguridad es una revisión propia, no un efecto secundario de que "todo pase".</a:t>
            </a:r>
            <a:endParaRPr lang="en-US" sz="2200" dirty="0"/>
          </a:p>
        </p:txBody>
      </p:sp>
      <p:pic>
        <p:nvPicPr>
          <p:cNvPr id="6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BEA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77724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Cazar y corregir el IDOR real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reproducir el hueco, aplicar security-baseline, corregirlo y volver a probar.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Requisitos: </a:t>
            </a:r>
            <a:r>
              <a:rPr lang="en-US" sz="12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panel del ejercicio de Construir + la skill `security-baseline`.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selector, elige a Ana.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barra del navegador escribe localhost:9777/contacto/7 (un contacto de Beto).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Verás que te deja abrirlo: ese es el hueco. Luego aplica `security-baseline` y corrige (verificar dueño).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794760"/>
            <a:ext cx="5029200" cy="2240280"/>
          </a:xfrm>
          <a:prstGeom prst="roundRect">
            <a:avLst>
              <a:gd name="adj" fmla="val 2041"/>
            </a:avLst>
          </a:prstGeom>
          <a:solidFill>
            <a:srgbClr val="22140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1005840" y="3877056"/>
            <a:ext cx="4709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2C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 el server en :9777. 1) Reproduce: elige a Ana y abre http://localhost:9777/contacto/7 (de Beto); hoy te deja verlo. 2) Aplica security-baseline y corrige el IDOR: en lib/contactos.js crea contactoAutorizado(lista, id, usuario) que devuelva ok/no-autorizado/no-existe; úsala en GET /contacto/:id y POST /contacto/:id/contactado, con 403 si el contacto no es del usuario. 3) Agrega test/seguridad.test.js: Ana NO abre el #7 de Beto, sí su #5, e id inexistente. 4) npm run verify pasa con las nuevas.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72200" y="2148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72200" y="242316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fix: Ana abre el contacto de Beto solo con cambiar el número.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fix: el panel verifica que el contacto sea del usuario elegido; si no, no lo muestra.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dueño sigue viendo los suyos; vuelves a correr npm run verify y queda aprobado.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5138928"/>
            <a:ext cx="5212080" cy="502920"/>
          </a:xfrm>
          <a:prstGeom prst="roundRect">
            <a:avLst>
              <a:gd name="adj" fmla="val 7273"/>
            </a:avLst>
          </a:prstGeom>
          <a:solidFill>
            <a:srgbClr val="F4D9C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6309360" y="513892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Comprueba: </a:t>
            </a:r>
            <a:r>
              <a:rPr lang="en-US" sz="11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Ana ya no entras al contacto de Beto; cada quien ve solo lo suyo. FUNCIONA ≠ ES SEGURO.</a:t>
            </a:r>
            <a:endParaRPr lang="en-US" sz="1150" dirty="0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2A2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4A3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E7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868680" y="2880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08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· CONSOLIDAR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Consolidar y hazlo tuyo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4279392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C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un proceso reutilizable: memoria optimizada, handoff (nota de traspaso: dónde quedó y el próximo paso), y el kit adaptado a tu stack.</a:t>
            </a:r>
            <a:endParaRPr lang="en-US" sz="1800" dirty="0"/>
          </a:p>
        </p:txBody>
      </p:sp>
      <p:pic>
        <p:nvPicPr>
          <p:cNvPr id="6" name="Image 0" descr="/Users/majucito/Documents/AEOS/operations/agents/mentor/formacion/taller-agentic-yuri/assets/alira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9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9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Consolidar: memoria + handoff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el trabajo listo para retomar sin reconstruir.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/optimizar-memoria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 lo obsoleto, fusiona duplicados, adelgaza CLAUDE.md. Menos tokens por turno.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ESTADO.md (handoff)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quedó y el próximo paso: para cambiar de sesión/agente/modelo.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memory/MEMORY.md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hechos estables y decisiones, con punteros. Se relee al iniciar.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gestión de contexto y de cuota: retomar barato en vez de re-explicar todo.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Hazlo tuyo: crea tu propia pieza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usar el kit a construir el tuyo, sin acumular.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una skill o command para TU stack (tu lenguaje, tus convenciones).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más importante: una DESCRIPCIÓN clara — así Claude sabe cuándo auto-invocarla.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Aliníala a un estándar reconocido (SOLID, 12-factor —guía para apps mantenibles, 12factor.net—, OWASP); no reinventes.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Mantén ligero: cada pieza cuesta contexto; agrega solo lo que uses. Va en el repo, el equipo la gana.</a:t>
            </a:r>
            <a:endParaRPr lang="en-US" sz="1700" dirty="0"/>
          </a:p>
        </p:txBody>
      </p:sp>
      <p:pic>
        <p:nvPicPr>
          <p:cNvPr id="6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evolucionó el kit: problema → mecanismo → riesgo resuelto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Autoestudio: cada pieza resolvió un problema real, no es versionado cronológico.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en prosa no se cumplían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skill: el criterio se auto-aplica → el estándar deja de ser un "pedido".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repetidos a mano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(/verificar): mismo proceso, misma evidencia, siempre.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constructor no ve su sesgo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subagente revisor: auditoría con ojos frescos (Builder≠Auditor).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"falso positivo"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Stop: no se cierra sin evidencia; se cumple solo.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BEA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77724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Consolidar + crear tu pieza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salir con el proceso reutilizable (handoff + memoria) y una pieza propia funcionando.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Requisitos: </a:t>
            </a:r>
            <a:r>
              <a:rPr lang="en-US" sz="12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kit (/optimizar-memoria + ESTADO.md) + un estándar de tu lenguaje en mente.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 ESTADO.md con el handoff (etapa, hecho, próximo paso).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/optimizar-memoria y revisa las podas propuestas.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una skill/command para tu stack y pruébala.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794760"/>
            <a:ext cx="5029200" cy="2240280"/>
          </a:xfrm>
          <a:prstGeom prst="roundRect">
            <a:avLst>
              <a:gd name="adj" fmla="val 2041"/>
            </a:avLst>
          </a:prstGeom>
          <a:solidFill>
            <a:srgbClr val="22140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1005840" y="3877056"/>
            <a:ext cx="4709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2C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Cierre. 1) Reescribe ESTADO.md: Etapa = asegurar; Hecho = IDOR corregido y verify pasa (12 pruebas); Próximo = una acción que elijas. 2) Corre /optimizar-memoria y lista qué de CLAUDE.md y memory/MEMORY.md es plantilla o ya no aplica; NO borres, solo propón. 3) Crea una skill en .claude/skills/ para JavaScript que revise "toda llamada a async usa await o maneja la promesa". Con una description que se auto-invoque al editar un .js. Pruébala con un .js con el error: se activa sola. verify sigue pasando.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72200" y="2148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72200" y="242316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ESTADO.md queda al día (retomable en otra sesión/modelo).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/optimizar-memoria propone quitar obsoleto y fusionar duplicados (espera tu OK).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nueva skill tiene una descripción que la auto-invoca; se activa en un caso real.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queda más corto y veraz; npm run verify sigue aprobado.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5138928"/>
            <a:ext cx="5212080" cy="502920"/>
          </a:xfrm>
          <a:prstGeom prst="roundRect">
            <a:avLst>
              <a:gd name="adj" fmla="val 7273"/>
            </a:avLst>
          </a:prstGeom>
          <a:solidFill>
            <a:srgbClr val="F4D9C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6309360" y="513892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Comprueba: </a:t>
            </a:r>
            <a:r>
              <a:rPr lang="en-US" sz="11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queda reutilizable: se retoma sin reconstruir (gestión de contexto y cuota).</a:t>
            </a:r>
            <a:endParaRPr lang="en-US" sz="1150" dirty="0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6E2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C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FIJAR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ciclo completo, en cuatro ideas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68680" y="2240280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2C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91640" y="2258568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F0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Especificar y diseñar — </a:t>
            </a:r>
            <a:r>
              <a:rPr lang="en-US" sz="1750" dirty="0">
                <a:solidFill>
                  <a:srgbClr val="F0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(FR+NFR+criterios) y arquitectura evaluada guían todo. Criterio &gt; herramienta.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2C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91640" y="3264408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F0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dirigido — </a:t>
            </a:r>
            <a:r>
              <a:rPr lang="en-US" sz="1750" dirty="0">
                <a:solidFill>
                  <a:srgbClr val="F0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antes de codear; tú apruebas, Claude ejecuta. Autonomía ∝ reversibilidad/riesgo.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68680" y="4251960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2C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691640" y="4270248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F0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 con evidencia — </a:t>
            </a:r>
            <a:r>
              <a:rPr lang="en-US" sz="1750" dirty="0">
                <a:solidFill>
                  <a:srgbClr val="F0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/verificar + hook + revisor. No hay aprobado sin evidencia. Builder≠Auditor.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868680" y="5257800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2C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691640" y="5276088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F0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 y tuyo — </a:t>
            </a:r>
            <a:r>
              <a:rPr lang="en-US" sz="1750" dirty="0">
                <a:solidFill>
                  <a:srgbClr val="F0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corregido (funciona≠seguro). Kit adaptado, memoria y tokens cuidados.</a:t>
            </a:r>
            <a:endParaRPr lang="en-US" sz="1750" dirty="0"/>
          </a:p>
        </p:txBody>
      </p:sp>
      <p:pic>
        <p:nvPicPr>
          <p:cNvPr id="12" name="Image 0" descr="/Users/majucito/Documents/AEOS/operations/agents/mentor/formacion/taller-agentic-yuri/assets/alira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9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9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hoja de criterio (1 página)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cabe en una hoja y resume el método.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codear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spec con criterios? ¿Arquitectura evaluada? ¿Está escrito el criterio de acceso?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construir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¿Plan aprobado? ¿La lógica en la capa correcta? ¿Autonomía acorde al riesgo?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cerrar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¿/verificar en aprobado con evidencia? ¿Revisor pasó? ¿Seguridad (IDOR/inyección/secretos)? ¿Criterios de aceptación fijados con /goal?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¿Memoria al día y delgada? ¿Handoff en ESTADO.md? ¿Modelo y contexto adecuados a la cuota?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se llevan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kit cableado + el proyecto reproducible.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mini-kit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(especificar/arquitectura/diseno-ui/security-baseline) + /verificar + /optimizar-memoria + revisor + hook + memoria cableada.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landing con panel de contactos, de punta a punta y reproducible por su cuenta.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hoja de criterio y el ciclo, aplicables a su repo real.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siguiente paso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Llevarlo a un proyecto real del equipo de Yuri.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 para autoestudio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citado, para seguir por su cuenta.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3108960" cy="510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(tech)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0" y="2148840"/>
            <a:ext cx="4206240" cy="510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A21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code.claude.com/docs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0" y="2148840"/>
            <a:ext cx="3200400" cy="510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commands, subagents, hooks, MCP, memoria, modelos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62432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822960" y="2715768"/>
            <a:ext cx="3108960" cy="510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CLAUDE-TECH-ACCURACY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1920" y="2715768"/>
            <a:ext cx="4206240" cy="510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A21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v2/CLAUDE-TECH-ACCURACY.md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0" y="2715768"/>
            <a:ext cx="3200400" cy="510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 técnica del taller (estable vs implementación)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1912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822960" y="3282696"/>
            <a:ext cx="3108960" cy="510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UI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31920" y="3282696"/>
            <a:ext cx="4206240" cy="510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A21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refactoringui.com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0" y="3282696"/>
            <a:ext cx="3200400" cy="510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diseño citables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375818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822960" y="3849624"/>
            <a:ext cx="3108960" cy="510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WebAIM Contrast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1920" y="3849624"/>
            <a:ext cx="4206240" cy="510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A21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webaim.org/…/contrastchecker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0" y="3849624"/>
            <a:ext cx="3200400" cy="510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AA por número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4325112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822960" y="4416552"/>
            <a:ext cx="3108960" cy="510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/ Ant / Attio / Twenty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931920" y="4416552"/>
            <a:ext cx="4206240" cy="510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A21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carbondesignsystem.com · attio.com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29600" y="4416552"/>
            <a:ext cx="3200400" cy="510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densas y list-report + object-page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2960" y="489204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822960" y="4983480"/>
            <a:ext cx="3108960" cy="510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931920" y="4983480"/>
            <a:ext cx="4206240" cy="510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A21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owasp.org (Top 10 · A01 · ASVS)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29600" y="4983480"/>
            <a:ext cx="3200400" cy="510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 aplicaciones (IDOR/BOLA)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2960" y="54589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Text 27"/>
          <p:cNvSpPr/>
          <p:nvPr/>
        </p:nvSpPr>
        <p:spPr>
          <a:xfrm>
            <a:off x="822960" y="5550408"/>
            <a:ext cx="3108960" cy="510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25010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31920" y="5550408"/>
            <a:ext cx="4206240" cy="510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A21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iso.org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229600" y="5550408"/>
            <a:ext cx="3200400" cy="510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calidad que guía los NFR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22960" y="602589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33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Glosario rápido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términos en inglés, con su traducción.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/ command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Habilidad: se activa sola, es una carpeta con payload. Comando: un archivo que disparas tú, no se auto-invoca.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/ hook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Subagente (contexto aislado) / regla automática que se cumple sola.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Protocol: enchufe a datos/servicios externos.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/ BOLA · NFR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o cambiar lo que es de otro por su número (control de acceso roto, OWASP A01) / requisito no funcional (rendimiento, seguridad, etc.).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2A2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65960"/>
            <a:ext cx="82296" cy="2468880"/>
          </a:xfrm>
          <a:prstGeom prst="rect">
            <a:avLst/>
          </a:prstGeom>
          <a:solidFill>
            <a:srgbClr val="E0814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1097280" y="2011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08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2395728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llevan un proceso, no unas diapositivas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097280" y="397764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8C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mini-kit cableado + la landing con panel de contactos, reproducible. El próximo paso es su repo real.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97280" y="58978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9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&gt; herramienta · No hay aprobado sin evidencia · Builder≠Auditor · Funciona≠seguro · Mayor velocidad→mayor control · Probar en serio: criterios de aceptación (/goal)</a:t>
            </a:r>
            <a:endParaRPr lang="en-US" sz="1300" dirty="0"/>
          </a:p>
        </p:txBody>
      </p:sp>
      <p:pic>
        <p:nvPicPr>
          <p:cNvPr id="7" name="Image 0" descr="/Users/majucito/Documents/AEOS/operations/agents/mentor/formacion/taller-agentic-yuri/assets/alira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9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9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2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65960"/>
            <a:ext cx="82296" cy="2468880"/>
          </a:xfrm>
          <a:prstGeom prst="rect">
            <a:avLst/>
          </a:prstGeom>
          <a:solidFill>
            <a:srgbClr val="E0814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1051560" y="2395728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 con criterio + Claude</a:t>
            </a:r>
            <a:endParaRPr lang="en-US" sz="4600" dirty="0"/>
          </a:p>
        </p:txBody>
      </p:sp>
      <p:pic>
        <p:nvPicPr>
          <p:cNvPr id="7" name="Image 0" descr="/Users/majucito/Documents/AEOS/operations/agents/mentor/formacion/taller-agentic-yuri/assets/alira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9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9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2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E08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· 2 sesiones × ~4 h · ~3h teoría+demo · ~4.5h manos al teclado · ~0.5h recap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proyecto pequeño, de punta a punta — Cotizaciones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8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· Entender · Especificar · Diseñar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5029200" cy="0"/>
          </a:xfrm>
          <a:prstGeom prst="line">
            <a:avLst/>
          </a:prstGeom>
          <a:noFill/>
          <a:ln w="12700">
            <a:solidFill>
              <a:srgbClr val="4A3B3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C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humano↔Claude · el ciclo no se reemplaza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C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Piezas, contexto, memoria y cuota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C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ESPECIFICAR → LAB 1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C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→ LAB 2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C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UI/UX (referencias reales) → LAB 3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0" y="18288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8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· Construir · Verificar · Asegurar · Consolidar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2286000"/>
            <a:ext cx="5029200" cy="0"/>
          </a:xfrm>
          <a:prstGeom prst="line">
            <a:avLst/>
          </a:prstGeom>
          <a:noFill/>
          <a:ln w="12700">
            <a:solidFill>
              <a:srgbClr val="4A3B3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6400800" y="246888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C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Autonomía (6 niveles) · qué NO delegar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C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(plan mode) → LAB 4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C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(/verificar+hook) → LAB 5 · Builder≠Auditor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C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ASEGURAR (IDOR real) → LAB 7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C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(memoria/handoff, hazlo tuyo)</a:t>
            </a:r>
            <a:endParaRPr lang="en-US" sz="1350" dirty="0"/>
          </a:p>
        </p:txBody>
      </p:sp>
      <p:pic>
        <p:nvPicPr>
          <p:cNvPr id="10" name="Image 0" descr="/Users/majucito/Documents/AEOS/operations/agents/mentor/formacion/taller-agentic-yuri/assets/alira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9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9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A2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4A3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868680" y="2880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08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Entender · Especificar · Diseñar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4279392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C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problema al diseño: contrato con Claude, especificación verificable, arquitectura y UI con criterio.</a:t>
            </a:r>
            <a:endParaRPr lang="en-US" sz="1800" dirty="0"/>
          </a:p>
        </p:txBody>
      </p:sp>
      <p:pic>
        <p:nvPicPr>
          <p:cNvPr id="6" name="Image 0" descr="/Users/majucito/Documents/AEOS/operations/agents/mentor/formacion/taller-agentic-yuri/assets/alira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9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9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Contrato humano ↔ Claude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hace qué. La responsabilidad del resultado no se delega.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humano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intención, restricciones, qué significa "bien" y los criterios de aceptación; aprueba decisiones; evalúa evidencia; conserva la responsabilidad.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Explora, propone, implementa, prueba, documenta y reporta evidencia.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acelera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la velocidad y la forma de la ejecución; no cambia de quién es la responsabilidad.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evidencia decide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está terminado cuando la evidencia lo respalda, no cuando quien lo construyó lo afirma.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no reemplaza el ciclo de desarrollo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ciclo de siempre; cambia su velocidad y su forma, no sus pasos.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→ análisis → diseño → desarrollo → pruebas → revisión. Sigue completo.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acelera Claude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paso: explora, propone, teclea, prueba. La ejecución es más rápida.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sigue siendo humano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criterio (qué está bien), la validación (¿cumple?) y la decisión.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trampa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Saltarse pasos porque "Claude ya lo hizo". Más velocidad exige más spec y más verificación, no menos.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1097280"/>
            <a:ext cx="9509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 &gt; herramienta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van a tener las mismas herramientas de IA. Lo que no se copia es el criterio con que las diriges.</a:t>
            </a:r>
            <a:endParaRPr lang="en-US" sz="2000" dirty="0"/>
          </a:p>
        </p:txBody>
      </p:sp>
      <p:pic>
        <p:nvPicPr>
          <p:cNvPr id="6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simple: los 5 mecanismos nativos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cada pieza en una línea. El detalle se profundiza cuando el proyecto lo pida.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6373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(habilidad)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6373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que Claude aplica solo cuando la tarea encaja con su descripción.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83464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2944368"/>
            <a:ext cx="2926080" cy="6373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(comando)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2944368"/>
            <a:ext cx="7498080" cy="6373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flujo que disparas TÚ por su nombre: /verificar, /optimizar-memoria.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58444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694176"/>
            <a:ext cx="2926080" cy="6373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(subagente)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694176"/>
            <a:ext cx="7498080" cy="6373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 Claude con contexto propio; trabaja aislado y devuelve un informe (revisor).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3342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443984"/>
            <a:ext cx="2926080" cy="6373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(regla automática)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443984"/>
            <a:ext cx="7498080" cy="6373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dispara en un evento y se cumple sola (p.ej. formatear un archivo tras editarlo).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08406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822960" y="5193792"/>
            <a:ext cx="2926080" cy="6373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886200" y="5193792"/>
            <a:ext cx="7498080" cy="6373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"enchufe" para conectar Claude a datos/servicios externos. No es pieza del kit.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2960" y="5833872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20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vs command: dos mecanismos, no dos nombres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Autoestudio: en qué se diferencian de verdad.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activa SOLA cuando la tarea encaja con su description. Es una carpeta que puede traer scripts, plantillas y referencias, que cargan solo cuando se usan.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archivo (un prompt/macro) que disparas con /n. NO se auto-invoca y no empaqueta archivos: es el caso simple.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skill es una carpeta en .claude/skills/; el command, un archivo .md en .claude/commands/. En Windows, misma ruta con backslash.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en el repo (git): todo el equipo la tiene sin configurar nada.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agent, hook y MCP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Autoestudio: los otros tres mecanismos.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(subagente)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 Claude con su propio contexto, tools y modelo. Le das un brief, trabaja aislado y devuelve un informe. Hay que briefearlo: no ve tu conversación.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(regla automática)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regla que el harness ejecuta en un evento (p.ej. al editar un archivo). Se cumple sola, no depende de que el modelo "se acuerde".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para conectar Claude a datos/servicios externos. Las herramientas se prefijan mcp__servidor__tool.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vs MCP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skill da criterio (cómo pensar); el MCP da acceso (a qué datos llegar).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crear un skill (y un command)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carpeta y un archivo; nada de instalador.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 .claude/skills/&lt;nombre&gt;/SKILL.md. El frontmatter (los metadatos entre --- al inicio del archivo) lleva name y description (la description dispara la auto-invocación). El cuerpo es tu criterio; la carpeta puede traer scripts y plantillas que cargan solo cuando se usan.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vive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(~/.claude/skills, todos tus proyectos) o del proyecto (./.claude/skills, commiteada al repo).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invoca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 por su description, o manual con /nombre. Las de plugin van con namespace (prefijo del plugin): /plugin:nombre.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archivo .claude/commands/&lt;n&gt;.md que disparas con /n. A diferencia del skill, NO se auto-invoca ni empaqueta scripts: es el caso simple.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crear un agente (subagente)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archivo que define un ayudante con su propio contexto.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.claude/agents/&lt;nombre&gt;.md. Frontmatter: name, description (cuándo despacharlo) y tools (qué puede usar).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cuerpo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su system prompt: quién es y cómo trabaja (p.ej. "eres un revisor independiente…").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usa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despacha cuando la tarea encaja con su description; trabaja aislado y devuelve un informe.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trabajo pesado o auditoría con ojos frescos, sin llenar tu contexto.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crear un hook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regla que el harness ejecuta sola en un evento.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.claude/settings.json, bajo "hooks". Lo ejecuta el harness (el programa de Claude Code que corre las reglas), no el modelo.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PreToolUse, PostToolUse, Stop, entre otros: eliges cuándo se dispara.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corre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comando o script en respuesta al evento (p.ej. formatear el archivo recién editado). También puede bloquear una acción.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típico: tras editar un archivo (PostToolUse), correr el formateador (Prettier/Black). Queda prolijo sin que te acuerdes.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conectar un MCP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enchufe a datos y servicios externos.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servidor MCP expone herramientas o datos (una BD, GitHub, el navegador) a Claude.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conecta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declara el servidor en la config MCP del proyecto (.mcp.json) o del usuario; hay servidores stdio y http.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/doctor comprueba que el servidor MCP cargó bien.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si la tarea necesita datos vivos; cada MCP cuesta contexto.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EA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· Crea tu primer skill y tu primer agente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Piezas nuevas, no del kit — para practicar el mecanismo. ~25 min.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skill y un subagente desde cero y comprobar que se activan — piezas simples que usarás durante el taller.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Skill: reporte-avance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.claude/skills/reporte-avance/SKILL.md. Frontmatter: description "resume el avance del proyecto". Cuerpo (2-3 líneas): "Lee ESTADO.md y los últimos commits; resume qué se hizo, qué falta y el próximo paso". Pruébala escribiendo: dame el reporte de avance.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Agente: explicador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.claude/agents/explicador.md. Frontmatter: description "explica qué hace un archivo". Cuerpo: "Eres un explicador: lee el archivo y resume su propósito y sus partes". Despáchalo diciendo: usa el agente explicador sobre &lt;archivo&gt;.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skill se activó por su description (no la pegaste)? ¿El agente respondió en su contexto? Con /skills confirma que aparecen.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Creator: crear tus propias skills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atajo opcional para crear skills; la forma que siempre funciona es a mano.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guía para crear una skill: su nombre, la descripción que dispara la auto-invocación, y el cuerpo con tu criterio.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repites un criterio o un flujo y quieres que Claude lo aplique solo.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invocas y describes la skill que necesitas; arma la carpeta .claude/skills/&lt;nombre&gt;/SKILL.md.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activarlo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en Claude Code (la terminal), dentro de un proyecto — NO en la app de chat. Requiere el plugin anthropic-skills (instálalo con /plugin marketplace add …); luego /anthropic-skills:skill-creator. Con /skills lo confirmas.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contexto es un recurso de ingeniería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Finito: se gestiona, no se llena a lo bruto.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Claude "tiene en mente" ocupa espacio (se mide en "tokens" —lo que Claude lee y escribe— que se pagan y son finitos): archivos abiertos, historial, memoria.
Cuando el contexto se llena, la calidad cae sin avisar: olvida detalles o mezcla cosas.
Se gestiona: acota lo que cargas, aísla lo pesado en un subagente, limpia con /clear, deja la memoria en archivos.
A escala, un sistema con varios agentes coordinados reparte el trabajo sin saturar un solo contexto.</a:t>
            </a:r>
            <a:endParaRPr lang="en-US" sz="1700" dirty="0"/>
          </a:p>
        </p:txBody>
      </p:sp>
      <p:pic>
        <p:nvPicPr>
          <p:cNvPr id="6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Memoria permanente: CLAUDE.md y memory/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memoria vive en archivos del repo, no en el chat.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del proyecto. Se lee al INICIO de cada sesión. Versionado, compartido por git.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memory/MEMORY.md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hechos que Claude recuerda entre sesiones (decisiones, estado).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ESTADO.md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Handoff: dónde quedó el trabajo y el próximo paso, para cambiar de sesión/agente/modelo.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 es la fuente canónica. La memoria automática NO lo es; si hay conflicto, gana el repo.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y tu repo de GitHub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Esos archivos (spec, memoria) viven en tu repo. Claude Code trabaja en la carpeta del proyecto, en local.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conecta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Claude Code dentro de la carpeta del repo (cd tu-repo &amp;&amp; claude). Trabaja sobre esos archivos.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esa carpeta ya es un repo con remoto a GitHub (git remote), tú haces commit y push como siempre; Claude edita en local.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no necesita tus credenciales de GitHub para leer/editar; para PRs e issues se usa el gh CLI (autenticado por ti).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Clona un repo tuyo, ábrelo con Claude Code, haz un cambio chico y commitéalo. Ese es tu terreno.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Modelos: cuál y cuándo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el modelo por complejidad. Economizar es criterio, no acumular.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y barato. Tareas simples, mecánicas, de alto volumen.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Equilibrio. El caballo de batalla para la mayoría del trabajo.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reasoning complejo: diseño, depuración difícil, decisiones.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Fable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más capaz y el más caro. No es default: se pide con /model fable. Sesiones largas, investigación, debugging profundo.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esfuerzo: cuánto piensa el modelo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Además del modelo, eliges cuánto razona. Más esfuerzo = mejor en lo difícil, pero más lento y más caro.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· medium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Razonamiento mínimo o equilibrado. Tareas directas; rápido y barato.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· xhigh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Razonamiento profundo o extra profundo. Problemas difíciles.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máximo esfuerzo. Solo cuando de verdad hace falta (lo soportan Opus y Fable).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ajusta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/effort &lt;nivel&gt; en Claude Code. Súbelo por la dificultad, no por defecto: menos esfuerzo del necesario ahorra tokens.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Economizar vs. gastar sin criterio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tarea; el desperdicio suele ser sutil.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5029200" cy="0"/>
          </a:xfrm>
          <a:prstGeom prst="line">
            <a:avLst/>
          </a:prstGeom>
          <a:noFill/>
          <a:ln w="31750">
            <a:solidFill>
              <a:srgbClr val="B453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criterio</a:t>
            </a:r>
            <a:r>
              <a:rPr lang="en-US" sz="1900" i="1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(barato y limpio)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acotado al problema, modelo por complejidad, prompt preciso.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4297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1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"Corrige validarEstado():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21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pego la función y su test."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2240280"/>
            <a:ext cx="5029200" cy="0"/>
          </a:xfrm>
          <a:prstGeom prst="line">
            <a:avLst/>
          </a:prstGeom>
          <a:noFill/>
          <a:ln w="31750">
            <a:solidFill>
              <a:srgbClr val="B453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6309360" y="2377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criterio  (creyendo que va bien)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309360" y="288036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que parecen inofensivos y suman.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309360" y="4297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45720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1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Pegas el repo entero para tocar 3 archivos.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21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Regeneras el módulo por cambiar una función.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21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3) Opus + effort max para algo trivial.</a:t>
            </a:r>
            <a:endParaRPr lang="en-US" sz="1300" dirty="0"/>
          </a:p>
        </p:txBody>
      </p:sp>
      <p:pic>
        <p:nvPicPr>
          <p:cNvPr id="15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A2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4A3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E1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868680" y="2880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08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· ESPECIFICAR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especificación es la raíz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4279392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C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alcance ni criterios de aceptación no hay nada que diseñar, construir ni probar.</a:t>
            </a:r>
            <a:endParaRPr lang="en-US" sz="1800" dirty="0"/>
          </a:p>
        </p:txBody>
      </p:sp>
      <p:pic>
        <p:nvPicPr>
          <p:cNvPr id="6" name="Image 0" descr="/Users/majucito/Documents/AEOS/operations/agents/mentor/formacion/taller-agentic-yuri/assets/alira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9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9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mini-kit que te llevas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starter real para trabajar con criterio: lo copias a tu repo y lo adaptas.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trae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(especificar, arquitectura, diseño-ui, seguridad), commands (/verificar, /optimizar-memoria, /sistema-diseno), un subagente revisor y un hook.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cableada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+ docs/spec + memory + ESTADO ya estructurados, listos para llenar por proyecto.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starter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 solo lo que usaremos hoy; quítale lo que no uses y hazlo crecer.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usa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copia a la raíz de tu proyecto; las skills se auto-invocan por su description.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EA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 el kit y baja el laboratorio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está en dos repos públicos. Clónalos y arranca. ~10 min.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el kit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https://github.com/claudiodpg/taller-claude-kit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Instálalo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.claude/, CLAUDE.md, docs/ y memory/ del kit a la raíz de tu proyecto de prueba y reinicia Claude Code.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el laboratorio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…/taller-claude-cotizaciones. Es el laboratorio del taller: el proyecto de ejemplo que iremos construyendo por etapas.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/skills deben aparecer las skills del kit. Ya puedes especificar.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produce la skill `especificar`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Construiremos un proyecto de ejemplo. Su definición se persiste en cuatro archivos base (docs/spec/) — el kit ya los trae como plantillas: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00-alcance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Objetivo, qué SÍ y qué NO. Corta el "creí que incluía…" y el sobre-alcance.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01-funcional (FR)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e historias, cada una con criterios de aceptación verificables.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02-no-funcional (NFR)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debe comportarse: seguridad, rendimiento, usabilidad, accesibilidad… (ISO 25010).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03-restricciones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Supuestos, dependencias, decisiones. Aquí vive la regla de ownership (quién puede tocar cada dato) del dominio.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Estándares: defínelos desde el inicio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decides qué significa "bien": tus estándares, buenas prácticas y stack van en los archivos base (docs/spec). Hoy usaremos ISO 25010 (NFR) y OWASP (seguridad); ATAM e ISO 5055/CISQ quedan solo como referencia.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25010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calidad: define QUÉ es bueno (seguridad, rendimiento, usabilidad, fiabilidad, mantenibilidad). Guía tus NFR.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riesgos de seguridad más comunes; ASVS = requisitos verificables. Seguro por defecto desde el diseño.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ATAM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para evaluar la arquitectura contra los atributos de calidad: encuentra riesgos y trade-offs.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5055 / CISQ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Debilidades estructurales medibles del código: fiabilidad, seguridad, performance, mantenibilidad.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NFR, guiados por ISO 25010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Autoestudio: el checklist para no olvidar lo que importa.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Permisos, datos protegidos, sin fugas. (Semilla del control de acceso por objeto.)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 de respuesta, uso de recursos.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 / accesibilidad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de usar; contraste AA (nivel de contraste legible; lo vemos en Diseño), navegable por teclado.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Fiabilidad / mantenibilidad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recupera de fallos; el código se cambia sin romper.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de aceptación: el ejemplo (Cotizaciones)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 lo verificable, no lo vago.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Vago: "que gestione bien las cotizaciones".
Verificable: "solo el equipo dueño puede cambiar el estado de su cotización; otro equipo recibe 403".
Verificable: "al aceptar una cotización se registra un cierre en el CRM".
Cada criterio es después un caso de prueba (Verificar) y un chequeo de seguridad (Asegurar). El de ownership es la semilla del IDOR: dejar que un equipo cambie la cotización de OTRO por su id.</a:t>
            </a:r>
            <a:endParaRPr lang="en-US" sz="1700" dirty="0"/>
          </a:p>
        </p:txBody>
      </p:sp>
      <p:pic>
        <p:nvPicPr>
          <p:cNvPr id="6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EA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77724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Especificar Gestión de Cotizaciones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convertir el requerimiento en spec verificable con criterios y NFR, persistida en docs/spec/.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Requisitos: el repo recién clonado + el mini-kit copiado (skill `especificar`).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del repo recién clonado.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Invoca `especificar` y responde sus preguntas de alcance/casos/NFR.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docs/spec/00–03 y que CLAUDE.md apunte ahí.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794760"/>
            <a:ext cx="5029200" cy="2240280"/>
          </a:xfrm>
          <a:prstGeom prst="roundRect">
            <a:avLst>
              <a:gd name="adj" fmla="val 2041"/>
            </a:avLst>
          </a:prstGeom>
          <a:solidFill>
            <a:srgbClr val="22140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1005840" y="3877056"/>
            <a:ext cx="4709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2C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Ayúdame a especificar Gestión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2C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 Cotizaciones: una solicitud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2C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 por un canal, se normaliza,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2C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 crea una cotización, se envía,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2C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 hace seguimiento y se acepta/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2C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rechaza; al aceptar se registra un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2C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cierre en un CRM simple. Hazme las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2C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preguntas que falten y escribe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2C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docs/spec/ con criterios y NFR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2C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(ISO 25010). Incluye: solo el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2C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equipo dueño cambia su estado.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72200" y="2148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72200" y="242316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lo que falta ANTES de escribir (canales, estados, límites).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00-alcance, 01-funcional (con criterios), 02-no-funcional, 03-restricciones.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el criterio de ownership → semilla del IDOR (Asegurar).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Estados: recibida→en_preparacion→enviada→seguimiento→aceptada|rechazada. CLAUDE.md apunta al spec.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5138928"/>
            <a:ext cx="5212080" cy="502920"/>
          </a:xfrm>
          <a:prstGeom prst="roundRect">
            <a:avLst>
              <a:gd name="adj" fmla="val 7273"/>
            </a:avLst>
          </a:prstGeom>
          <a:solidFill>
            <a:srgbClr val="F4D9C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6309360" y="513892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Comprueba: </a:t>
            </a:r>
            <a:r>
              <a:rPr lang="en-US" sz="11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criterios de aceptación, "construir" no tiene contra qué verificarse.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172200" y="570585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2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terminar, tu repo queda con la spec lista.</a:t>
            </a:r>
            <a:endParaRPr lang="en-US" sz="1200" dirty="0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A2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4A3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E2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868680" y="2880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08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· ARQUITECTURA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y modelo de datos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4279392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C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Claude proponga la estructura y el dev la evalúe — con la separación que hará VISIBLE el fallo.</a:t>
            </a:r>
            <a:endParaRPr lang="en-US" sz="1800" dirty="0"/>
          </a:p>
        </p:txBody>
      </p:sp>
      <p:pic>
        <p:nvPicPr>
          <p:cNvPr id="6" name="Image 0" descr="/Users/majucito/Documents/AEOS/operations/agents/mentor/formacion/taller-agentic-yuri/assets/alira-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9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9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hace buena una arquitectura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skill `arquitectura`: propone con su porqué, tú evalúas y corriges.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y fronteras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API / dominio / datos. La capa de datos (el "repositorio" del patrón, no el de git) NO decide permisos; el control de acceso —verificar que el dato sea de tu equipo, su "ownership"— va en las rutas.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NFR manda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rendimiento del spec guían la estructura, no al revés.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 encierres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reversibles; evita atarte a algo caro de cambiar después.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criterio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se evalúa; acepta que la cuestiones y ajusta.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stacks, la misma arquitectura por capas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(UI · API · dominio · datos) no cambia; la tecnología sí. Tu equipo usa varios lenguajes.</a:t>
            </a:r>
            <a:endParaRPr lang="en-US" sz="1550" dirty="0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20" name="TextBox 19"/>
          <p:cNvSpPr txBox="1"/>
          <p:nvPr/>
        </p:nvSpPr>
        <p:spPr>
          <a:xfrm>
            <a:off x="822960" y="208483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B4531C"/>
                </a:solidFill>
                <a:latin typeface="Calibri"/>
              </a:rPr>
              <a:t>Web (JS/TS)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2487168"/>
            <a:ext cx="3200400" cy="749808"/>
          </a:xfrm>
          <a:prstGeom prst="roundRect">
            <a:avLst/>
          </a:prstGeom>
          <a:solidFill>
            <a:srgbClr val="FDE7D6"/>
          </a:solidFill>
          <a:ln w="9525">
            <a:solidFill>
              <a:srgbClr val="D9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2A211D"/>
                </a:solidFill>
                <a:latin typeface="Calibri"/>
              </a:rPr>
              <a:t>UI</a:t>
            </a:r>
            <a:r>
              <a:rPr sz="1200">
                <a:solidFill>
                  <a:srgbClr val="2A211D"/>
                </a:solidFill>
                <a:latin typeface="Calibri"/>
              </a:rPr>
              <a:t>  ·  React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218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5D55"/>
                </a:solidFill>
                <a:latin typeface="Calibri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429000"/>
            <a:ext cx="3200400" cy="749808"/>
          </a:xfrm>
          <a:prstGeom prst="roundRect">
            <a:avLst/>
          </a:prstGeom>
          <a:solidFill>
            <a:srgbClr val="FBEADF"/>
          </a:solidFill>
          <a:ln w="9525">
            <a:solidFill>
              <a:srgbClr val="D9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2A211D"/>
                </a:solidFill>
                <a:latin typeface="Calibri"/>
              </a:rPr>
              <a:t>API</a:t>
            </a:r>
            <a:r>
              <a:rPr sz="1200">
                <a:solidFill>
                  <a:srgbClr val="2A211D"/>
                </a:solidFill>
                <a:latin typeface="Calibri"/>
              </a:rPr>
              <a:t>  ·  Node / Express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1605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5D55"/>
                </a:solidFill>
                <a:latin typeface="Calibri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370832"/>
            <a:ext cx="3200400" cy="749808"/>
          </a:xfrm>
          <a:prstGeom prst="roundRect">
            <a:avLst/>
          </a:prstGeom>
          <a:solidFill>
            <a:srgbClr val="E8F0E9"/>
          </a:solidFill>
          <a:ln w="9525">
            <a:solidFill>
              <a:srgbClr val="D9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2A211D"/>
                </a:solidFill>
                <a:latin typeface="Calibri"/>
              </a:rPr>
              <a:t>Dominio</a:t>
            </a:r>
            <a:r>
              <a:rPr sz="1200">
                <a:solidFill>
                  <a:srgbClr val="2A211D"/>
                </a:solidFill>
                <a:latin typeface="Calibri"/>
              </a:rPr>
              <a:t>  ·  TypeScript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10235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5D55"/>
                </a:solidFill>
                <a:latin typeface="Calibri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312664"/>
            <a:ext cx="3200400" cy="749808"/>
          </a:xfrm>
          <a:prstGeom prst="roundRect">
            <a:avLst/>
          </a:prstGeom>
          <a:solidFill>
            <a:srgbClr val="E9EDF2"/>
          </a:solidFill>
          <a:ln w="9525">
            <a:solidFill>
              <a:srgbClr val="D9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2A211D"/>
                </a:solidFill>
                <a:latin typeface="Calibri"/>
              </a:rPr>
              <a:t>Datos</a:t>
            </a:r>
            <a:r>
              <a:rPr sz="1200">
                <a:solidFill>
                  <a:srgbClr val="2A211D"/>
                </a:solidFill>
                <a:latin typeface="Calibri"/>
              </a:rPr>
              <a:t>  ·  PostgreSQL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208483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B4531C"/>
                </a:solidFill>
                <a:latin typeface="Calibri"/>
              </a:rPr>
              <a:t>Móvil + Python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0" y="2487168"/>
            <a:ext cx="3200400" cy="749808"/>
          </a:xfrm>
          <a:prstGeom prst="roundRect">
            <a:avLst/>
          </a:prstGeom>
          <a:solidFill>
            <a:srgbClr val="FDE7D6"/>
          </a:solidFill>
          <a:ln w="9525">
            <a:solidFill>
              <a:srgbClr val="D9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2A211D"/>
                </a:solidFill>
                <a:latin typeface="Calibri"/>
              </a:rPr>
              <a:t>UI</a:t>
            </a:r>
            <a:r>
              <a:rPr sz="1200">
                <a:solidFill>
                  <a:srgbClr val="2A211D"/>
                </a:solidFill>
                <a:latin typeface="Calibri"/>
              </a:rPr>
              <a:t>  ·  Flutter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3218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5D55"/>
                </a:solidFill>
                <a:latin typeface="Calibri"/>
              </a:rP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0560" y="3429000"/>
            <a:ext cx="3200400" cy="749808"/>
          </a:xfrm>
          <a:prstGeom prst="roundRect">
            <a:avLst/>
          </a:prstGeom>
          <a:solidFill>
            <a:srgbClr val="FBEADF"/>
          </a:solidFill>
          <a:ln w="9525">
            <a:solidFill>
              <a:srgbClr val="D9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2A211D"/>
                </a:solidFill>
                <a:latin typeface="Calibri"/>
              </a:rPr>
              <a:t>API</a:t>
            </a:r>
            <a:r>
              <a:rPr sz="1200">
                <a:solidFill>
                  <a:srgbClr val="2A211D"/>
                </a:solidFill>
                <a:latin typeface="Calibri"/>
              </a:rPr>
              <a:t>  ·  FastAPI (Python)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41605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5D55"/>
                </a:solidFill>
                <a:latin typeface="Calibri"/>
              </a:rPr>
              <a:t>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60" y="4370832"/>
            <a:ext cx="3200400" cy="749808"/>
          </a:xfrm>
          <a:prstGeom prst="roundRect">
            <a:avLst/>
          </a:prstGeom>
          <a:solidFill>
            <a:srgbClr val="E8F0E9"/>
          </a:solidFill>
          <a:ln w="9525">
            <a:solidFill>
              <a:srgbClr val="D9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2A211D"/>
                </a:solidFill>
                <a:latin typeface="Calibri"/>
              </a:rPr>
              <a:t>Dominio</a:t>
            </a:r>
            <a:r>
              <a:rPr sz="1200">
                <a:solidFill>
                  <a:srgbClr val="2A211D"/>
                </a:solidFill>
                <a:latin typeface="Calibri"/>
              </a:rPr>
              <a:t>  ·  Python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510235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5D55"/>
                </a:solidFill>
                <a:latin typeface="Calibri"/>
              </a:rPr>
              <a:t>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80560" y="5312664"/>
            <a:ext cx="3200400" cy="749808"/>
          </a:xfrm>
          <a:prstGeom prst="roundRect">
            <a:avLst/>
          </a:prstGeom>
          <a:solidFill>
            <a:srgbClr val="E9EDF2"/>
          </a:solidFill>
          <a:ln w="9525">
            <a:solidFill>
              <a:srgbClr val="D9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2A211D"/>
                </a:solidFill>
                <a:latin typeface="Calibri"/>
              </a:rPr>
              <a:t>Datos</a:t>
            </a:r>
            <a:r>
              <a:rPr sz="1200">
                <a:solidFill>
                  <a:srgbClr val="2A211D"/>
                </a:solidFill>
                <a:latin typeface="Calibri"/>
              </a:rPr>
              <a:t>  ·  MySQL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208483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B4531C"/>
                </a:solidFill>
                <a:latin typeface="Calibri"/>
              </a:rPr>
              <a:t>Empresarial (.NET)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2487168"/>
            <a:ext cx="3200400" cy="749808"/>
          </a:xfrm>
          <a:prstGeom prst="roundRect">
            <a:avLst/>
          </a:prstGeom>
          <a:solidFill>
            <a:srgbClr val="FDE7D6"/>
          </a:solidFill>
          <a:ln w="9525">
            <a:solidFill>
              <a:srgbClr val="D9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2A211D"/>
                </a:solidFill>
                <a:latin typeface="Calibri"/>
              </a:rPr>
              <a:t>UI</a:t>
            </a:r>
            <a:r>
              <a:rPr sz="1200">
                <a:solidFill>
                  <a:srgbClr val="2A211D"/>
                </a:solidFill>
                <a:latin typeface="Calibri"/>
              </a:rPr>
              <a:t>  ·  Angular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3218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5D55"/>
                </a:solidFill>
                <a:latin typeface="Calibri"/>
              </a:rPr>
              <a:t>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3429000"/>
            <a:ext cx="3200400" cy="749808"/>
          </a:xfrm>
          <a:prstGeom prst="roundRect">
            <a:avLst/>
          </a:prstGeom>
          <a:solidFill>
            <a:srgbClr val="FBEADF"/>
          </a:solidFill>
          <a:ln w="9525">
            <a:solidFill>
              <a:srgbClr val="D9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2A211D"/>
                </a:solidFill>
                <a:latin typeface="Calibri"/>
              </a:rPr>
              <a:t>API</a:t>
            </a:r>
            <a:r>
              <a:rPr sz="1200">
                <a:solidFill>
                  <a:srgbClr val="2A211D"/>
                </a:solidFill>
                <a:latin typeface="Calibri"/>
              </a:rPr>
              <a:t>  ·  .NET (C#)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41605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5D55"/>
                </a:solidFill>
                <a:latin typeface="Calibri"/>
              </a:rPr>
              <a:t>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60" y="4370832"/>
            <a:ext cx="3200400" cy="749808"/>
          </a:xfrm>
          <a:prstGeom prst="roundRect">
            <a:avLst/>
          </a:prstGeom>
          <a:solidFill>
            <a:srgbClr val="E8F0E9"/>
          </a:solidFill>
          <a:ln w="9525">
            <a:solidFill>
              <a:srgbClr val="D9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2A211D"/>
                </a:solidFill>
                <a:latin typeface="Calibri"/>
              </a:rPr>
              <a:t>Dominio</a:t>
            </a:r>
            <a:r>
              <a:rPr sz="1200">
                <a:solidFill>
                  <a:srgbClr val="2A211D"/>
                </a:solidFill>
                <a:latin typeface="Calibri"/>
              </a:rPr>
              <a:t>  ·  C#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510235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5D55"/>
                </a:solidFill>
                <a:latin typeface="Calibri"/>
              </a:rPr>
              <a:t>↓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38160" y="5312664"/>
            <a:ext cx="3200400" cy="749808"/>
          </a:xfrm>
          <a:prstGeom prst="roundRect">
            <a:avLst/>
          </a:prstGeom>
          <a:solidFill>
            <a:srgbClr val="E9EDF2"/>
          </a:solidFill>
          <a:ln w="9525">
            <a:solidFill>
              <a:srgbClr val="D9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2A211D"/>
                </a:solidFill>
                <a:latin typeface="Calibri"/>
              </a:rPr>
              <a:t>Datos</a:t>
            </a:r>
            <a:r>
              <a:rPr sz="1200">
                <a:solidFill>
                  <a:srgbClr val="2A211D"/>
                </a:solidFill>
                <a:latin typeface="Calibri"/>
              </a:rPr>
              <a:t>  ·  SQL Server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es un modelo de datos (y los estados)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ejemplo: los términos, en cristiano.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"cosa" del negocio que quieres guardar: un cliente, un pedido, una cotización. Piensa en una ficha.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de esa ficha: nombre, fecha, importe… lo que guardas de cada entidad.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conectan entre sí: una cotización pertenece a un cliente y tiene varios ítems.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de vida de algo: por qué etapas pasa (recibida → enviada → aceptada) y qué transiciones son válidas.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Nuestro ejemplo: la cotización comercial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del taller. Una cotización = una propuesta de precio a un cliente.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cotización (central) y su cliente/contacto: es lo que el equipo de ventas maneja a diario.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recibida → en preparación → enviada → seguimiento → aceptada o rechazada. Ese es el flujo comercial.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que guarda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Cliente, contacto, canal, necesidad, ítems (producto/cantidad/precio), importe, fecha de seguimiento, resultado.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dónde sale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 deriva del spec (etapa anterior). Los detalles técnicos —la base de datos y la identidad del equipo (simulada con la cabecera x-tenant: "qué equipo soy", sin login)— viven en el repo del laboratorio.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¿skill o subagente "arquitecto"?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criterio, dos formas de usarlo.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5029200" cy="0"/>
          </a:xfrm>
          <a:prstGeom prst="line">
            <a:avLst/>
          </a:prstGeom>
          <a:noFill/>
          <a:ln w="31750">
            <a:solidFill>
              <a:srgbClr val="B453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r>
              <a:rPr lang="en-US" sz="1900" i="1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(diálogo)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 → evalúas → corrige, en tu hilo, con todo el contexto compartido. El 90% de los casos.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309360" y="2240280"/>
            <a:ext cx="5029200" cy="0"/>
          </a:xfrm>
          <a:prstGeom prst="line">
            <a:avLst/>
          </a:prstGeom>
          <a:noFill/>
          <a:ln w="31750">
            <a:solidFill>
              <a:srgbClr val="B4531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6309360" y="2377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subagente</a:t>
            </a:r>
            <a:r>
              <a:rPr lang="en-US" sz="1900" i="1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(encargo)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309360" y="288036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grande en un repo que no conoces: explora aislado y devuelve la propuesta sin llenarte el contexto.</a:t>
            </a:r>
            <a:endParaRPr lang="en-US" sz="1550" dirty="0"/>
          </a:p>
        </p:txBody>
      </p:sp>
      <p:pic>
        <p:nvPicPr>
          <p:cNvPr id="11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experto a la mano: crea un agente consultor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subagente experto que resuelve tus dudas técnicas — al definir y al construir.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Creas un agente "experto en &lt;tu stack&gt;" (o en modelado de datos) y lo consultas cuando dudas: ¿esto conviene así? ¿qué patrón uso?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crea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3090672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.claude/agents/experto.md con description "experto en &lt;stack/tema&gt;; responde dudas técnicas de diseño". Ya viste cómo crear un agente.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lo usas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986784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la definición (arquitectura, modelo) y también durante el desarrollo, cada vez que aparezca una duda técnica.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2926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un agente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882896"/>
            <a:ext cx="7498080" cy="761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su propio contexto y "personalidad" experta; lo consultas sin ensuciar tu hilo de trabajo.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EA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77724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Proponer y evaluar la arquitectura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obtener capas + modelo de datos + esquema SQLite y evaluarlos con criterio, no a ciegas.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Requisitos: la spec lista + skill `arquitectura`.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la propuesta leyendo docs/spec/.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 UNA decisión (¿dónde vive el control de acceso?).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la decisión en docs/arquitectura.md y memory/.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794760"/>
            <a:ext cx="5029200" cy="2240280"/>
          </a:xfrm>
          <a:prstGeom prst="roundRect">
            <a:avLst>
              <a:gd name="adj" fmla="val 2041"/>
            </a:avLst>
          </a:prstGeom>
          <a:solidFill>
            <a:srgbClr val="22140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1005840" y="3877056"/>
            <a:ext cx="4709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2C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Lee docs/spec/ y propón la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2C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arquitectura de Cotizaciones: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2C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capas (UI/API/dominio/datos),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2C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 de datos y esquema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2C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SQLite. ¿Dónde vive el control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2C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 acceso por objeto (x-tenant)?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2C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Explícame el porqué de cada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2C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 antes de escribir nada.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72200" y="2148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72200" y="242316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 capas con el porqué; el repo (datos) no decide permisos.
Ubica el control de acceso en las rutas (un solo punto → hará visible el IDOR —acceder al recurso de OTRO por su id sin validar que sea tuyo—).
Modela estados y transiciones; esquema con índice por tenant.
Acepta que la cuestiones; deja la decisión en docs/arquitectura.md.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5138928"/>
            <a:ext cx="5212080" cy="502920"/>
          </a:xfrm>
          <a:prstGeom prst="roundRect">
            <a:avLst>
              <a:gd name="adj" fmla="val 7273"/>
            </a:avLst>
          </a:prstGeom>
          <a:solidFill>
            <a:srgbClr val="F4D9C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6309360" y="513892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Comprueba: </a:t>
            </a:r>
            <a:r>
              <a:rPr lang="en-US" sz="11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separación de capas es la que hará VISIBLE el fallo de seguridad después.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172200" y="570585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2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terminar, tu repo queda con la arquitectura lista.</a:t>
            </a:r>
            <a:endParaRPr lang="en-US" sz="1200" dirty="0"/>
          </a:p>
        </p:txBody>
      </p:sp>
      <p:pic>
        <p:nvPicPr>
          <p:cNvPr id="17" name="Image 0" descr="/Users/majucito/Documents/AEOS/operations/agents/mentor/formacion/taller-agentic-yuri/assets/alira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64224"/>
            <a:ext cx="235001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8229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2A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Probar en serio: tipos, proceso y /goal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probar y dónde Claude Code automatiza. Fija los criterios de aceptación por fase.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926080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86200" y="2194560"/>
            <a:ext cx="7498080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¿Hace lo que dice el spec? Casos con Vitest/Jest. Claude los escribe desde tus criterios de aceptación.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724912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926080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código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886200" y="2834640"/>
            <a:ext cx="7498080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(typecheck) + estilo (lint). npm run verify los corre; Claude los cablea a tu stack.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364992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2926080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86200" y="3474720"/>
            <a:ext cx="7498080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acceso, input externo, secretos. La skill security-baseline los revisa.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005072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4114800"/>
            <a:ext cx="2926080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con Playwright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86200" y="4114800"/>
            <a:ext cx="7498080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real en un navegador, de punta a punta. Claude genera y corre los tests.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4645152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822960" y="4754880"/>
            <a:ext cx="2926080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886200" y="4754880"/>
            <a:ext cx="7498080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prueba → planificar la ejecución → preflight (correr todo antes de cerrar) → criterios de aceptación.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2960" y="5285232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822960" y="5394960"/>
            <a:ext cx="2926080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B45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/goal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3886200" y="5394960"/>
            <a:ext cx="7498080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 el "terminado" verificable y Claude trabaja hasta cumplirlo (se evalúa tras cada turno). Ej.: /goal npm run verify pasa. /goal clear para parar.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22960" y="5925312"/>
            <a:ext cx="10515600" cy="0"/>
          </a:xfrm>
          <a:prstGeom prst="line">
            <a:avLst/>
          </a:prstGeom>
          <a:noFill/>
          <a:ln w="12700">
            <a:solidFill>
              <a:srgbClr val="EAE3D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1"/>
          <p:cNvSpPr/>
          <p:nvPr/>
        </p:nvSpPr>
        <p:spPr>
          <a:xfrm>
            <a:off x="868680" y="64190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 · Construir con criterio + Claude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064240" y="64190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10929</Words>
  <Application>Microsoft Macintosh PowerPoint</Application>
  <PresentationFormat>Panorámica</PresentationFormat>
  <Paragraphs>1095</Paragraphs>
  <Slides>72</Slides>
  <Notes>72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72</vt:i4>
      </vt:variant>
    </vt:vector>
  </HeadingPairs>
  <TitlesOfParts>
    <vt:vector size="77" baseType="lpstr">
      <vt:lpstr>Arial</vt:lpstr>
      <vt:lpstr>Calibri</vt:lpstr>
      <vt:lpstr>Cambria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Gabriel Del Pozo</cp:lastModifiedBy>
  <cp:revision>2</cp:revision>
  <dcterms:created xsi:type="dcterms:W3CDTF">2026-08-17T22:21:53Z</dcterms:created>
  <dcterms:modified xsi:type="dcterms:W3CDTF">2026-08-18T09:46:15Z</dcterms:modified>
</cp:coreProperties>
</file>